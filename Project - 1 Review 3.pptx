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notesMasterIdLst>
    <p:notesMasterId r:id="rId32"/>
  </p:notesMasterIdLst>
  <p:sldIdLst>
    <p:sldId id="256" r:id="rId2"/>
    <p:sldId id="286" r:id="rId3"/>
    <p:sldId id="303" r:id="rId4"/>
    <p:sldId id="304" r:id="rId5"/>
    <p:sldId id="305" r:id="rId6"/>
    <p:sldId id="306" r:id="rId7"/>
    <p:sldId id="307" r:id="rId8"/>
    <p:sldId id="308" r:id="rId9"/>
    <p:sldId id="314" r:id="rId10"/>
    <p:sldId id="309" r:id="rId11"/>
    <p:sldId id="310" r:id="rId12"/>
    <p:sldId id="311" r:id="rId13"/>
    <p:sldId id="327" r:id="rId14"/>
    <p:sldId id="312" r:id="rId15"/>
    <p:sldId id="318" r:id="rId16"/>
    <p:sldId id="315" r:id="rId17"/>
    <p:sldId id="298" r:id="rId18"/>
    <p:sldId id="300" r:id="rId19"/>
    <p:sldId id="302" r:id="rId20"/>
    <p:sldId id="316" r:id="rId21"/>
    <p:sldId id="317" r:id="rId22"/>
    <p:sldId id="319" r:id="rId23"/>
    <p:sldId id="320" r:id="rId24"/>
    <p:sldId id="321" r:id="rId25"/>
    <p:sldId id="322" r:id="rId26"/>
    <p:sldId id="323" r:id="rId27"/>
    <p:sldId id="324" r:id="rId28"/>
    <p:sldId id="325" r:id="rId29"/>
    <p:sldId id="326" r:id="rId30"/>
    <p:sldId id="279"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45BD1A-0AAD-4496-BCFC-299611B5225E}" type="datetimeFigureOut">
              <a:rPr lang="en-IN" smtClean="0"/>
              <a:t>20-11-2024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66F5DF-9FC5-4830-9CF9-E6329FB63518}" type="slidenum">
              <a:rPr lang="en-IN" smtClean="0"/>
              <a:t>‹#›</a:t>
            </a:fld>
            <a:endParaRPr lang="en-IN"/>
          </a:p>
        </p:txBody>
      </p:sp>
    </p:spTree>
    <p:extLst>
      <p:ext uri="{BB962C8B-B14F-4D97-AF65-F5344CB8AC3E}">
        <p14:creationId xmlns:p14="http://schemas.microsoft.com/office/powerpoint/2010/main" val="3437997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D38F81C4-5D44-4DA9-8B70-E6DF1E342CDF}"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44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8F81C4-5D44-4DA9-8B70-E6DF1E342CDF}"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3650696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8F81C4-5D44-4DA9-8B70-E6DF1E342CDF}"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8385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38F81C4-5D44-4DA9-8B70-E6DF1E342CDF}" type="datetimeFigureOut">
              <a:rPr lang="en-IN" smtClean="0"/>
              <a:t>20-11-2024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3323968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38F81C4-5D44-4DA9-8B70-E6DF1E342CDF}" type="datetimeFigureOut">
              <a:rPr lang="en-IN" smtClean="0"/>
              <a:t>20-11-2024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704860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38F81C4-5D44-4DA9-8B70-E6DF1E342CDF}" type="datetimeFigureOut">
              <a:rPr lang="en-IN" smtClean="0"/>
              <a:t>20-11-2024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227817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38F81C4-5D44-4DA9-8B70-E6DF1E342CDF}" type="datetimeFigureOut">
              <a:rPr lang="en-IN" smtClean="0"/>
              <a:t>20-11-2024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3117278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38F81C4-5D44-4DA9-8B70-E6DF1E342CDF}" type="datetimeFigureOut">
              <a:rPr lang="en-IN" smtClean="0"/>
              <a:t>20-11-2024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8903AD0-0F0A-4749-A735-10C8F4DDAA78}" type="slidenum">
              <a:rPr lang="en-IN" smtClean="0"/>
              <a:t>‹#›</a:t>
            </a:fld>
            <a:endParaRPr lang="en-IN"/>
          </a:p>
        </p:txBody>
      </p:sp>
    </p:spTree>
    <p:extLst>
      <p:ext uri="{BB962C8B-B14F-4D97-AF65-F5344CB8AC3E}">
        <p14:creationId xmlns:p14="http://schemas.microsoft.com/office/powerpoint/2010/main" val="3686856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8F81C4-5D44-4DA9-8B70-E6DF1E342CDF}" type="datetimeFigureOut">
              <a:rPr lang="en-IN" smtClean="0"/>
              <a:t>20-11-2024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2965074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8F81C4-5D44-4DA9-8B70-E6DF1E342CDF}"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321778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8F81C4-5D44-4DA9-8B70-E6DF1E342CDF}" type="datetimeFigureOut">
              <a:rPr lang="en-IN" smtClean="0"/>
              <a:t>20-11-2024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8903AD0-0F0A-4749-A735-10C8F4DDAA78}" type="slidenum">
              <a:rPr lang="en-IN" smtClean="0"/>
              <a:t>‹#›</a:t>
            </a:fld>
            <a:endParaRPr lang="en-IN"/>
          </a:p>
        </p:txBody>
      </p:sp>
    </p:spTree>
    <p:extLst>
      <p:ext uri="{BB962C8B-B14F-4D97-AF65-F5344CB8AC3E}">
        <p14:creationId xmlns:p14="http://schemas.microsoft.com/office/powerpoint/2010/main" val="21799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38F81C4-5D44-4DA9-8B70-E6DF1E342CDF}" type="datetimeFigureOut">
              <a:rPr lang="en-IN" smtClean="0"/>
              <a:t>20-11-2024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8903AD0-0F0A-4749-A735-10C8F4DDAA78}"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1201510"/>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doi.org/10.3390/s24196306"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DF49E-CFBF-CB89-F322-5F7EA31BA8B8}"/>
              </a:ext>
            </a:extLst>
          </p:cNvPr>
          <p:cNvSpPr>
            <a:spLocks noGrp="1"/>
          </p:cNvSpPr>
          <p:nvPr>
            <p:ph type="ctrTitle"/>
          </p:nvPr>
        </p:nvSpPr>
        <p:spPr>
          <a:xfrm>
            <a:off x="570368" y="1"/>
            <a:ext cx="8609847" cy="7763300"/>
          </a:xfrm>
        </p:spPr>
        <p:txBody>
          <a:bodyPr>
            <a:normAutofit fontScale="90000"/>
          </a:bodyPr>
          <a:lstStyle/>
          <a:p>
            <a:pPr>
              <a:lnSpc>
                <a:spcPct val="150000"/>
              </a:lnSpc>
              <a:spcBef>
                <a:spcPts val="200"/>
              </a:spcBef>
              <a:spcAft>
                <a:spcPts val="200"/>
              </a:spcAft>
            </a:pP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br>
              <a:rPr lang="en-IN" sz="3600" b="1" dirty="0">
                <a:latin typeface="Garamond" panose="02020404030301010803" pitchFamily="18" charset="0"/>
              </a:rPr>
            </a:br>
            <a:r>
              <a:rPr lang="en-US" sz="3300" b="1" dirty="0">
                <a:solidFill>
                  <a:srgbClr val="7030A0"/>
                </a:solidFill>
                <a:latin typeface="Garamond"/>
              </a:rPr>
              <a:t>ECG Signal Processing for Arrhythmia Detection</a:t>
            </a:r>
            <a:br>
              <a:rPr lang="en-IN" sz="3600" b="1" dirty="0">
                <a:latin typeface="Garamond" panose="02020404030301010803" pitchFamily="18" charset="0"/>
              </a:rPr>
            </a:br>
            <a:br>
              <a:rPr lang="en-IN" sz="3600" b="1" dirty="0">
                <a:latin typeface="Garamond" panose="02020404030301010803" pitchFamily="18" charset="0"/>
              </a:rPr>
            </a:br>
            <a:r>
              <a:rPr lang="en-IN" sz="2600" b="1" dirty="0">
                <a:solidFill>
                  <a:schemeClr val="accent1"/>
                </a:solidFill>
                <a:latin typeface="Garamond"/>
              </a:rPr>
              <a:t>Team Members:</a:t>
            </a:r>
            <a:br>
              <a:rPr lang="en-IN" sz="3100" dirty="0">
                <a:solidFill>
                  <a:schemeClr val="accent1"/>
                </a:solidFill>
                <a:latin typeface="Garamond"/>
              </a:rPr>
            </a:br>
            <a:r>
              <a:rPr lang="en-IN" sz="2300" dirty="0">
                <a:solidFill>
                  <a:srgbClr val="7030A0"/>
                </a:solidFill>
                <a:latin typeface="Garamond" panose="02020404030301010803" pitchFamily="18" charset="0"/>
              </a:rPr>
              <a:t>1) 21BLC1058 – V M Adhityaa</a:t>
            </a:r>
            <a:br>
              <a:rPr lang="en-IN" sz="2300" dirty="0">
                <a:solidFill>
                  <a:srgbClr val="7030A0"/>
                </a:solidFill>
                <a:latin typeface="Garamond" panose="02020404030301010803" pitchFamily="18" charset="0"/>
              </a:rPr>
            </a:br>
            <a:r>
              <a:rPr lang="en-IN" sz="2300" dirty="0">
                <a:solidFill>
                  <a:srgbClr val="7030A0"/>
                </a:solidFill>
                <a:latin typeface="Garamond" panose="02020404030301010803" pitchFamily="18" charset="0"/>
              </a:rPr>
              <a:t>2) 21BLC1472 – S Vinodh</a:t>
            </a:r>
            <a:br>
              <a:rPr lang="en-IN" sz="2300" dirty="0">
                <a:solidFill>
                  <a:srgbClr val="7030A0"/>
                </a:solidFill>
                <a:latin typeface="Garamond" panose="02020404030301010803" pitchFamily="18" charset="0"/>
              </a:rPr>
            </a:br>
            <a:r>
              <a:rPr lang="en-IN" sz="2300" dirty="0">
                <a:solidFill>
                  <a:srgbClr val="7030A0"/>
                </a:solidFill>
                <a:latin typeface="Garamond" panose="02020404030301010803" pitchFamily="18" charset="0"/>
              </a:rPr>
              <a:t>3) 21BLC1569 – A Navaneth</a:t>
            </a:r>
            <a:br>
              <a:rPr lang="en-IN" sz="3600" b="1" dirty="0">
                <a:latin typeface="Garamond" panose="02020404030301010803" pitchFamily="18" charset="0"/>
              </a:rPr>
            </a:br>
            <a:br>
              <a:rPr lang="en-IN" sz="6000" b="1" dirty="0">
                <a:latin typeface="Garamond" panose="02020404030301010803" pitchFamily="18" charset="0"/>
              </a:rPr>
            </a:br>
            <a:br>
              <a:rPr lang="en-IN" sz="8000" b="1" dirty="0">
                <a:latin typeface="Garamond" panose="02020404030301010803" pitchFamily="18" charset="0"/>
              </a:rPr>
            </a:br>
            <a:endParaRPr lang="en-IN" sz="3600" dirty="0">
              <a:solidFill>
                <a:schemeClr val="accent1"/>
              </a:solidFill>
              <a:cs typeface="Calibri Light" panose="020F0302020204030204"/>
            </a:endParaRPr>
          </a:p>
        </p:txBody>
      </p:sp>
      <p:sp>
        <p:nvSpPr>
          <p:cNvPr id="8" name="TextBox 7">
            <a:extLst>
              <a:ext uri="{FF2B5EF4-FFF2-40B4-BE49-F238E27FC236}">
                <a16:creationId xmlns:a16="http://schemas.microsoft.com/office/drawing/2014/main" id="{B00401B5-B61E-F226-097E-6DF56C9F2658}"/>
              </a:ext>
            </a:extLst>
          </p:cNvPr>
          <p:cNvSpPr txBox="1"/>
          <p:nvPr/>
        </p:nvSpPr>
        <p:spPr>
          <a:xfrm>
            <a:off x="570368" y="4899804"/>
            <a:ext cx="10559165" cy="815608"/>
          </a:xfrm>
          <a:prstGeom prst="rect">
            <a:avLst/>
          </a:prstGeom>
          <a:noFill/>
        </p:spPr>
        <p:txBody>
          <a:bodyPr wrap="square" lIns="91440" tIns="45720" rIns="91440" bIns="45720" rtlCol="0" anchor="t">
            <a:spAutoFit/>
          </a:bodyPr>
          <a:lstStyle/>
          <a:p>
            <a:r>
              <a:rPr lang="en-GB" sz="2300" b="1" dirty="0">
                <a:solidFill>
                  <a:schemeClr val="accent1"/>
                </a:solidFill>
                <a:latin typeface="Garamond"/>
                <a:cs typeface="Calibri"/>
              </a:rPr>
              <a:t>Project Guide </a:t>
            </a:r>
            <a:r>
              <a:rPr lang="en-GB" sz="2300" b="1" dirty="0">
                <a:solidFill>
                  <a:srgbClr val="7030A0"/>
                </a:solidFill>
                <a:latin typeface="Garamond"/>
                <a:cs typeface="Calibri"/>
              </a:rPr>
              <a:t>– Dr. Ranjeet Kumar</a:t>
            </a:r>
            <a:endParaRPr lang="en-IN" sz="2400" b="1" i="0" dirty="0">
              <a:solidFill>
                <a:srgbClr val="343434"/>
              </a:solidFill>
              <a:effectLst/>
              <a:latin typeface="Roboto" panose="020F0502020204030204" pitchFamily="2" charset="0"/>
            </a:endParaRPr>
          </a:p>
          <a:p>
            <a:endParaRPr lang="en-GB" sz="2300" b="1" dirty="0">
              <a:solidFill>
                <a:srgbClr val="7030A0"/>
              </a:solidFill>
              <a:latin typeface="Garamond"/>
              <a:cs typeface="Calibri"/>
            </a:endParaRPr>
          </a:p>
        </p:txBody>
      </p:sp>
      <p:pic>
        <p:nvPicPr>
          <p:cNvPr id="3" name="Picture 2">
            <a:extLst>
              <a:ext uri="{FF2B5EF4-FFF2-40B4-BE49-F238E27FC236}">
                <a16:creationId xmlns:a16="http://schemas.microsoft.com/office/drawing/2014/main" id="{5AB7FB4D-D87E-2BEF-0F60-DB8A2A253816}"/>
              </a:ext>
            </a:extLst>
          </p:cNvPr>
          <p:cNvPicPr>
            <a:picLocks noChangeAspect="1"/>
          </p:cNvPicPr>
          <p:nvPr/>
        </p:nvPicPr>
        <p:blipFill>
          <a:blip r:embed="rId2"/>
          <a:stretch>
            <a:fillRect/>
          </a:stretch>
        </p:blipFill>
        <p:spPr>
          <a:xfrm>
            <a:off x="8682273" y="0"/>
            <a:ext cx="3509727" cy="3509727"/>
          </a:xfrm>
          <a:prstGeom prst="rect">
            <a:avLst/>
          </a:prstGeom>
        </p:spPr>
      </p:pic>
    </p:spTree>
    <p:extLst>
      <p:ext uri="{BB962C8B-B14F-4D97-AF65-F5344CB8AC3E}">
        <p14:creationId xmlns:p14="http://schemas.microsoft.com/office/powerpoint/2010/main" val="624864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5D5618-75F5-6F4D-E131-5D24BF159E11}"/>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Introduction</a:t>
            </a:r>
            <a:endParaRPr lang="en-IN" sz="3000" b="1" dirty="0"/>
          </a:p>
        </p:txBody>
      </p:sp>
      <p:sp>
        <p:nvSpPr>
          <p:cNvPr id="4" name="TextBox 3">
            <a:extLst>
              <a:ext uri="{FF2B5EF4-FFF2-40B4-BE49-F238E27FC236}">
                <a16:creationId xmlns:a16="http://schemas.microsoft.com/office/drawing/2014/main" id="{54B3C8E6-2D9D-01A5-B88F-366C86D08929}"/>
              </a:ext>
            </a:extLst>
          </p:cNvPr>
          <p:cNvSpPr txBox="1"/>
          <p:nvPr/>
        </p:nvSpPr>
        <p:spPr>
          <a:xfrm>
            <a:off x="708057" y="1176950"/>
            <a:ext cx="11070501" cy="615553"/>
          </a:xfrm>
          <a:prstGeom prst="rect">
            <a:avLst/>
          </a:prstGeom>
          <a:noFill/>
        </p:spPr>
        <p:txBody>
          <a:bodyPr wrap="square" rtlCol="0">
            <a:spAutoFit/>
          </a:bodyPr>
          <a:lstStyle/>
          <a:p>
            <a:endParaRPr lang="en-IN" sz="1600" dirty="0">
              <a:effectLst/>
              <a:latin typeface="Garamond" panose="02020404030301010803" pitchFamily="18" charset="0"/>
              <a:ea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84A0A0E2-0DF3-050A-C8C9-8D7E80622F06}"/>
              </a:ext>
            </a:extLst>
          </p:cNvPr>
          <p:cNvSpPr txBox="1"/>
          <p:nvPr/>
        </p:nvSpPr>
        <p:spPr>
          <a:xfrm>
            <a:off x="708057" y="1176950"/>
            <a:ext cx="10775886" cy="4893647"/>
          </a:xfrm>
          <a:prstGeom prst="rect">
            <a:avLst/>
          </a:prstGeom>
          <a:noFill/>
        </p:spPr>
        <p:txBody>
          <a:bodyPr wrap="square">
            <a:spAutoFit/>
          </a:bodyPr>
          <a:lstStyle/>
          <a:p>
            <a:pPr>
              <a:spcAft>
                <a:spcPts val="600"/>
              </a:spcAft>
            </a:pPr>
            <a:r>
              <a:rPr lang="en-US" sz="2200" b="1" dirty="0">
                <a:solidFill>
                  <a:srgbClr val="7030A0"/>
                </a:solidFill>
                <a:latin typeface="Garamond" panose="02020404030301010803" pitchFamily="18" charset="0"/>
              </a:rPr>
              <a:t>Cardiovascular Diseases and the Role of ECG</a:t>
            </a:r>
            <a:endParaRPr lang="en-US" sz="2200" dirty="0">
              <a:solidFill>
                <a:srgbClr val="7030A0"/>
              </a:solidFill>
              <a:latin typeface="Garamond" panose="02020404030301010803" pitchFamily="18" charset="0"/>
            </a:endParaRPr>
          </a:p>
          <a:p>
            <a:pPr marL="285750" indent="-285750" algn="just">
              <a:buFont typeface="Arial" panose="020B0604020202020204" pitchFamily="34" charset="0"/>
              <a:buChar char="•"/>
            </a:pPr>
            <a:r>
              <a:rPr lang="en-US" sz="2000" dirty="0">
                <a:latin typeface="Garamond" panose="02020404030301010803" pitchFamily="18" charset="0"/>
              </a:rPr>
              <a:t>Cardiovascular diseases (CVDs) are the leading cause of death globally, accounting for nearly 20 million deaths annually.</a:t>
            </a:r>
          </a:p>
          <a:p>
            <a:pPr marL="285750" indent="-285750" algn="just">
              <a:buFont typeface="Arial" panose="020B0604020202020204" pitchFamily="34" charset="0"/>
              <a:buChar char="•"/>
            </a:pPr>
            <a:r>
              <a:rPr lang="en-US" sz="2000" dirty="0">
                <a:latin typeface="Garamond" panose="02020404030301010803" pitchFamily="18" charset="0"/>
              </a:rPr>
              <a:t>Arrhythmia, caused by irregular heart rhythms, is a critical condition under CVDs that necessitates early detection for effective treatment and management.</a:t>
            </a:r>
          </a:p>
          <a:p>
            <a:pPr marL="285750" indent="-285750" algn="just">
              <a:buFont typeface="Arial" panose="020B0604020202020204" pitchFamily="34" charset="0"/>
              <a:buChar char="•"/>
            </a:pPr>
            <a:r>
              <a:rPr lang="en-US" sz="2000" dirty="0">
                <a:latin typeface="Garamond" panose="02020404030301010803" pitchFamily="18" charset="0"/>
              </a:rPr>
              <a:t>ECG signals, which record the heart's electrical activity, serve as the benchmark for diagnosing arrhythmias and other heart conditions.</a:t>
            </a:r>
          </a:p>
          <a:p>
            <a:endParaRPr lang="en-US" dirty="0">
              <a:latin typeface="Garamond" panose="02020404030301010803" pitchFamily="18" charset="0"/>
            </a:endParaRPr>
          </a:p>
          <a:p>
            <a:pPr>
              <a:spcAft>
                <a:spcPts val="600"/>
              </a:spcAft>
            </a:pPr>
            <a:r>
              <a:rPr lang="en-US" sz="2200" b="1" dirty="0">
                <a:solidFill>
                  <a:srgbClr val="7030A0"/>
                </a:solidFill>
                <a:latin typeface="Garamond" panose="02020404030301010803" pitchFamily="18" charset="0"/>
              </a:rPr>
              <a:t>Challenges in Traditional Detection Methods</a:t>
            </a:r>
            <a:endParaRPr lang="en-US" sz="2200" dirty="0">
              <a:solidFill>
                <a:srgbClr val="7030A0"/>
              </a:solidFill>
              <a:latin typeface="Garamond" panose="02020404030301010803" pitchFamily="18" charset="0"/>
            </a:endParaRPr>
          </a:p>
          <a:p>
            <a:pPr marL="285750" indent="-285750" algn="just">
              <a:buFont typeface="Arial" panose="020B0604020202020204" pitchFamily="34" charset="0"/>
              <a:buChar char="•"/>
            </a:pPr>
            <a:r>
              <a:rPr lang="en-US" sz="2000" dirty="0">
                <a:latin typeface="Garamond" panose="02020404030301010803" pitchFamily="18" charset="0"/>
              </a:rPr>
              <a:t>Manual interpretation of ECG signals:</a:t>
            </a:r>
          </a:p>
          <a:p>
            <a:pPr marL="857250" lvl="1" indent="-400050" algn="just">
              <a:buFont typeface="+mj-lt"/>
              <a:buAutoNum type="romanLcPeriod"/>
            </a:pPr>
            <a:r>
              <a:rPr lang="en-US" sz="2000" dirty="0">
                <a:latin typeface="Garamond" panose="02020404030301010803" pitchFamily="18" charset="0"/>
              </a:rPr>
              <a:t>Time-consuming and prone to human error.</a:t>
            </a:r>
          </a:p>
          <a:p>
            <a:pPr marL="857250" lvl="1" indent="-400050" algn="just">
              <a:buFont typeface="+mj-lt"/>
              <a:buAutoNum type="romanLcPeriod"/>
            </a:pPr>
            <a:r>
              <a:rPr lang="en-US" sz="2000" dirty="0">
                <a:latin typeface="Garamond" panose="02020404030301010803" pitchFamily="18" charset="0"/>
              </a:rPr>
              <a:t>Unsuitable for high-scale diagnosis.</a:t>
            </a:r>
          </a:p>
          <a:p>
            <a:pPr marL="342900" indent="-342900" algn="just">
              <a:buFont typeface="Arial" panose="020B0604020202020204" pitchFamily="34" charset="0"/>
              <a:buChar char="•"/>
            </a:pPr>
            <a:r>
              <a:rPr lang="en-US" sz="2000" dirty="0">
                <a:latin typeface="Garamond" panose="02020404030301010803" pitchFamily="18" charset="0"/>
              </a:rPr>
              <a:t>Detecting conditions like arrhythmia requires distinguishing subtle variations in the ECG waveform, which can be challenging manually.</a:t>
            </a:r>
          </a:p>
          <a:p>
            <a:pPr marL="342900" indent="-342900" algn="just">
              <a:buFont typeface="Arial" panose="020B0604020202020204" pitchFamily="34" charset="0"/>
              <a:buChar char="•"/>
            </a:pPr>
            <a:r>
              <a:rPr lang="en-US" sz="2000" dirty="0">
                <a:latin typeface="Garamond" panose="02020404030301010803" pitchFamily="18" charset="0"/>
              </a:rPr>
              <a:t>Need for automated and efficient systems for accurate detection.</a:t>
            </a:r>
          </a:p>
        </p:txBody>
      </p:sp>
    </p:spTree>
    <p:extLst>
      <p:ext uri="{BB962C8B-B14F-4D97-AF65-F5344CB8AC3E}">
        <p14:creationId xmlns:p14="http://schemas.microsoft.com/office/powerpoint/2010/main" val="2244366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C3008-5374-4E6D-F5FC-4B6BB6DDDB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DDBD0F-5E9A-872A-8A4E-FD233BB24FEF}"/>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Introduction</a:t>
            </a:r>
            <a:endParaRPr lang="en-IN" sz="3000" b="1" dirty="0"/>
          </a:p>
        </p:txBody>
      </p:sp>
      <p:sp>
        <p:nvSpPr>
          <p:cNvPr id="4" name="TextBox 3">
            <a:extLst>
              <a:ext uri="{FF2B5EF4-FFF2-40B4-BE49-F238E27FC236}">
                <a16:creationId xmlns:a16="http://schemas.microsoft.com/office/drawing/2014/main" id="{F0C440D1-1B2C-E216-1BD1-B35350DF7992}"/>
              </a:ext>
            </a:extLst>
          </p:cNvPr>
          <p:cNvSpPr txBox="1"/>
          <p:nvPr/>
        </p:nvSpPr>
        <p:spPr>
          <a:xfrm>
            <a:off x="708057" y="1176950"/>
            <a:ext cx="11070501" cy="615553"/>
          </a:xfrm>
          <a:prstGeom prst="rect">
            <a:avLst/>
          </a:prstGeom>
          <a:noFill/>
        </p:spPr>
        <p:txBody>
          <a:bodyPr wrap="square" rtlCol="0">
            <a:spAutoFit/>
          </a:bodyPr>
          <a:lstStyle/>
          <a:p>
            <a:endParaRPr lang="en-IN" sz="1600" dirty="0">
              <a:effectLst/>
              <a:latin typeface="Garamond" panose="02020404030301010803" pitchFamily="18" charset="0"/>
              <a:ea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9AA6BBBC-83A8-41CB-AAAD-733EF4AB5F2F}"/>
              </a:ext>
            </a:extLst>
          </p:cNvPr>
          <p:cNvSpPr txBox="1"/>
          <p:nvPr/>
        </p:nvSpPr>
        <p:spPr>
          <a:xfrm>
            <a:off x="708057" y="1278986"/>
            <a:ext cx="10775886" cy="3970318"/>
          </a:xfrm>
          <a:prstGeom prst="rect">
            <a:avLst/>
          </a:prstGeom>
          <a:noFill/>
        </p:spPr>
        <p:txBody>
          <a:bodyPr wrap="square">
            <a:spAutoFit/>
          </a:bodyPr>
          <a:lstStyle/>
          <a:p>
            <a:pPr>
              <a:spcAft>
                <a:spcPts val="600"/>
              </a:spcAft>
            </a:pPr>
            <a:r>
              <a:rPr lang="en-US" sz="2200" b="1" dirty="0">
                <a:solidFill>
                  <a:srgbClr val="7030A0"/>
                </a:solidFill>
                <a:latin typeface="Garamond" panose="02020404030301010803" pitchFamily="18" charset="0"/>
              </a:rPr>
              <a:t>Advancements in Automated Detection</a:t>
            </a:r>
            <a:endParaRPr lang="en-US" sz="2200" dirty="0">
              <a:solidFill>
                <a:srgbClr val="7030A0"/>
              </a:solidFill>
              <a:latin typeface="Garamond" panose="02020404030301010803" pitchFamily="18" charset="0"/>
            </a:endParaRPr>
          </a:p>
          <a:p>
            <a:pPr marL="285750" indent="-285750" algn="just">
              <a:buFont typeface="Arial" panose="020B0604020202020204" pitchFamily="34" charset="0"/>
              <a:buChar char="•"/>
            </a:pPr>
            <a:r>
              <a:rPr lang="en-US" sz="2000" dirty="0">
                <a:latin typeface="Garamond" panose="02020404030301010803" pitchFamily="18" charset="0"/>
              </a:rPr>
              <a:t>Machine learning and deep learning techniques have revolutionized arrhythmia detection by automating ECG signal analysis.</a:t>
            </a:r>
          </a:p>
          <a:p>
            <a:pPr marL="285750" indent="-285750" algn="just">
              <a:buFont typeface="Arial" panose="020B0604020202020204" pitchFamily="34" charset="0"/>
              <a:buChar char="•"/>
            </a:pPr>
            <a:r>
              <a:rPr lang="en-US" sz="2000" dirty="0">
                <a:latin typeface="Garamond" panose="02020404030301010803" pitchFamily="18" charset="0"/>
              </a:rPr>
              <a:t>Deep learning architectures, especially hybrid models, have shown exceptional potential in extracting spatial and temporal features from ECG data.</a:t>
            </a:r>
          </a:p>
          <a:p>
            <a:pPr algn="just"/>
            <a:endParaRPr lang="en-US" dirty="0">
              <a:latin typeface="Garamond" panose="02020404030301010803" pitchFamily="18" charset="0"/>
            </a:endParaRPr>
          </a:p>
          <a:p>
            <a:pPr algn="just">
              <a:spcAft>
                <a:spcPts val="600"/>
              </a:spcAft>
            </a:pPr>
            <a:r>
              <a:rPr lang="en-US" sz="2200" b="1" dirty="0">
                <a:solidFill>
                  <a:srgbClr val="7030A0"/>
                </a:solidFill>
                <a:latin typeface="Garamond" panose="02020404030301010803" pitchFamily="18" charset="0"/>
              </a:rPr>
              <a:t>Objective of This Study</a:t>
            </a:r>
            <a:endParaRPr lang="en-US" sz="2200" dirty="0">
              <a:solidFill>
                <a:srgbClr val="7030A0"/>
              </a:solidFill>
              <a:latin typeface="Garamond" panose="02020404030301010803" pitchFamily="18" charset="0"/>
            </a:endParaRPr>
          </a:p>
          <a:p>
            <a:pPr marL="285750" indent="-285750" algn="just">
              <a:buFont typeface="Arial" panose="020B0604020202020204" pitchFamily="34" charset="0"/>
              <a:buChar char="•"/>
            </a:pPr>
            <a:r>
              <a:rPr lang="en-US" sz="2000" dirty="0">
                <a:latin typeface="Garamond" panose="02020404030301010803" pitchFamily="18" charset="0"/>
              </a:rPr>
              <a:t>Develop a hybrid deep learning model combining:</a:t>
            </a:r>
          </a:p>
          <a:p>
            <a:pPr marL="857250" lvl="1" indent="-400050" algn="just">
              <a:buFont typeface="+mj-lt"/>
              <a:buAutoNum type="romanLcPeriod"/>
            </a:pPr>
            <a:r>
              <a:rPr lang="en-US" sz="2000" b="1" dirty="0">
                <a:latin typeface="Garamond" panose="02020404030301010803" pitchFamily="18" charset="0"/>
              </a:rPr>
              <a:t>CNN (Convolutional Neural Networks)</a:t>
            </a:r>
            <a:r>
              <a:rPr lang="en-US" sz="2000" dirty="0">
                <a:latin typeface="Garamond" panose="02020404030301010803" pitchFamily="18" charset="0"/>
              </a:rPr>
              <a:t> for spatial feature extraction.</a:t>
            </a:r>
          </a:p>
          <a:p>
            <a:pPr marL="857250" lvl="1" indent="-400050" algn="just">
              <a:buFont typeface="+mj-lt"/>
              <a:buAutoNum type="romanLcPeriod"/>
            </a:pPr>
            <a:r>
              <a:rPr lang="en-US" sz="2000" b="1" dirty="0">
                <a:latin typeface="Garamond" panose="02020404030301010803" pitchFamily="18" charset="0"/>
              </a:rPr>
              <a:t>BiLSTM (Bidirectional Long Short-Term Memory)</a:t>
            </a:r>
            <a:r>
              <a:rPr lang="en-US" sz="2000" dirty="0">
                <a:latin typeface="Garamond" panose="02020404030301010803" pitchFamily="18" charset="0"/>
              </a:rPr>
              <a:t> for temporal feature learning.</a:t>
            </a:r>
          </a:p>
          <a:p>
            <a:pPr marL="857250" lvl="1" indent="-400050" algn="just">
              <a:buFont typeface="+mj-lt"/>
              <a:buAutoNum type="romanLcPeriod"/>
            </a:pPr>
            <a:r>
              <a:rPr lang="en-US" sz="2000" b="1" dirty="0">
                <a:latin typeface="Garamond" panose="02020404030301010803" pitchFamily="18" charset="0"/>
              </a:rPr>
              <a:t>Gated Convolutions</a:t>
            </a:r>
            <a:r>
              <a:rPr lang="en-US" sz="2000" dirty="0">
                <a:latin typeface="Garamond" panose="02020404030301010803" pitchFamily="18" charset="0"/>
              </a:rPr>
              <a:t> to enhance feature representation.</a:t>
            </a:r>
          </a:p>
          <a:p>
            <a:pPr marL="285750" indent="-285750" algn="just">
              <a:buFont typeface="Arial" panose="020B0604020202020204" pitchFamily="34" charset="0"/>
              <a:buChar char="•"/>
            </a:pPr>
            <a:r>
              <a:rPr lang="en-US" sz="2000" dirty="0">
                <a:latin typeface="Garamond" panose="02020404030301010803" pitchFamily="18" charset="0"/>
              </a:rPr>
              <a:t>Ensure high accuracy and efficiency in arrhythmia detection.</a:t>
            </a:r>
          </a:p>
        </p:txBody>
      </p:sp>
    </p:spTree>
    <p:extLst>
      <p:ext uri="{BB962C8B-B14F-4D97-AF65-F5344CB8AC3E}">
        <p14:creationId xmlns:p14="http://schemas.microsoft.com/office/powerpoint/2010/main" val="846842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D399A-EB21-5EDE-652D-FA59EF0F31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38774A-AB34-A513-156C-56656AEDC69F}"/>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Problem Formulation</a:t>
            </a:r>
            <a:endParaRPr lang="en-IN" sz="3000" b="1" dirty="0"/>
          </a:p>
        </p:txBody>
      </p:sp>
      <p:sp>
        <p:nvSpPr>
          <p:cNvPr id="4" name="TextBox 3">
            <a:extLst>
              <a:ext uri="{FF2B5EF4-FFF2-40B4-BE49-F238E27FC236}">
                <a16:creationId xmlns:a16="http://schemas.microsoft.com/office/drawing/2014/main" id="{D92682D8-4699-E28F-FBAF-BC6D74AB4E44}"/>
              </a:ext>
            </a:extLst>
          </p:cNvPr>
          <p:cNvSpPr txBox="1"/>
          <p:nvPr/>
        </p:nvSpPr>
        <p:spPr>
          <a:xfrm>
            <a:off x="708057" y="1176950"/>
            <a:ext cx="11070501" cy="615553"/>
          </a:xfrm>
          <a:prstGeom prst="rect">
            <a:avLst/>
          </a:prstGeom>
          <a:noFill/>
        </p:spPr>
        <p:txBody>
          <a:bodyPr wrap="square" rtlCol="0">
            <a:spAutoFit/>
          </a:bodyPr>
          <a:lstStyle/>
          <a:p>
            <a:endParaRPr lang="en-IN" sz="1600" dirty="0">
              <a:effectLst/>
              <a:latin typeface="Garamond" panose="02020404030301010803" pitchFamily="18" charset="0"/>
              <a:ea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ECEE6142-7F7A-06A3-8DCF-CD80AC68F148}"/>
              </a:ext>
            </a:extLst>
          </p:cNvPr>
          <p:cNvSpPr txBox="1"/>
          <p:nvPr/>
        </p:nvSpPr>
        <p:spPr>
          <a:xfrm>
            <a:off x="708057" y="1012129"/>
            <a:ext cx="10775886" cy="5078313"/>
          </a:xfrm>
          <a:prstGeom prst="rect">
            <a:avLst/>
          </a:prstGeom>
          <a:noFill/>
        </p:spPr>
        <p:txBody>
          <a:bodyPr wrap="square">
            <a:spAutoFit/>
          </a:bodyPr>
          <a:lstStyle/>
          <a:p>
            <a:pPr marL="342900" indent="-342900">
              <a:buFont typeface="+mj-lt"/>
              <a:buAutoNum type="arabicPeriod"/>
            </a:pPr>
            <a:r>
              <a:rPr lang="en-US" b="1" dirty="0">
                <a:solidFill>
                  <a:srgbClr val="7030A0"/>
                </a:solidFill>
                <a:latin typeface="Garamond" panose="02020404030301010803" pitchFamily="18" charset="0"/>
              </a:rPr>
              <a:t>Problem Definition:</a:t>
            </a:r>
            <a:endParaRPr lang="en-US" dirty="0">
              <a:solidFill>
                <a:srgbClr val="7030A0"/>
              </a:solidFill>
              <a:latin typeface="Garamond" panose="02020404030301010803" pitchFamily="18" charset="0"/>
            </a:endParaRPr>
          </a:p>
          <a:p>
            <a:pPr marL="742950" lvl="1" indent="-285750" algn="just">
              <a:buFont typeface="Arial" panose="020B0604020202020204" pitchFamily="34" charset="0"/>
              <a:buChar char="•"/>
            </a:pPr>
            <a:r>
              <a:rPr lang="en-US" dirty="0">
                <a:latin typeface="Garamond" panose="02020404030301010803" pitchFamily="18" charset="0"/>
              </a:rPr>
              <a:t>Cardiac arrhythmias are abnormal heart rhythms that can be life-threatening if not detected early. </a:t>
            </a:r>
          </a:p>
          <a:p>
            <a:pPr marL="742950" lvl="1" indent="-285750" algn="just">
              <a:buFont typeface="Arial" panose="020B0604020202020204" pitchFamily="34" charset="0"/>
              <a:buChar char="•"/>
            </a:pPr>
            <a:r>
              <a:rPr lang="en-US" dirty="0">
                <a:latin typeface="Garamond" panose="02020404030301010803" pitchFamily="18" charset="0"/>
              </a:rPr>
              <a:t>Traditional ECG analysis methods often involve manual interpretation by experts, which can be time-consuming, subjective, and prone to human error.</a:t>
            </a:r>
          </a:p>
          <a:p>
            <a:pPr marL="742950" lvl="1" indent="-285750" algn="just">
              <a:buFont typeface="Arial" panose="020B0604020202020204" pitchFamily="34" charset="0"/>
              <a:buChar char="•"/>
            </a:pPr>
            <a:r>
              <a:rPr lang="en-US" dirty="0">
                <a:latin typeface="Garamond" panose="02020404030301010803" pitchFamily="18" charset="0"/>
              </a:rPr>
              <a:t>Current automated ECG classification systems face challenges in accurately detecting arrhythmias, especially with large and diverse datasets that include noise, class imbalance, and temporal dependencies.</a:t>
            </a:r>
          </a:p>
          <a:p>
            <a:pPr algn="just"/>
            <a:endParaRPr lang="en-US" b="1" dirty="0">
              <a:latin typeface="Garamond" panose="02020404030301010803" pitchFamily="18" charset="0"/>
            </a:endParaRPr>
          </a:p>
          <a:p>
            <a:pPr marL="342900" indent="-342900" algn="just">
              <a:buFont typeface="+mj-lt"/>
              <a:buAutoNum type="arabicPeriod"/>
            </a:pPr>
            <a:r>
              <a:rPr lang="en-US" b="1" dirty="0">
                <a:solidFill>
                  <a:srgbClr val="7030A0"/>
                </a:solidFill>
                <a:latin typeface="Garamond" panose="02020404030301010803" pitchFamily="18" charset="0"/>
              </a:rPr>
              <a:t>Key Challenges:</a:t>
            </a:r>
            <a:endParaRPr lang="en-US" dirty="0">
              <a:solidFill>
                <a:srgbClr val="7030A0"/>
              </a:solidFill>
              <a:latin typeface="Garamond" panose="02020404030301010803" pitchFamily="18" charset="0"/>
            </a:endParaRPr>
          </a:p>
          <a:p>
            <a:pPr marL="742950" lvl="1" indent="-285750" algn="just">
              <a:buFont typeface="Arial" panose="020B0604020202020204" pitchFamily="34" charset="0"/>
              <a:buChar char="•"/>
            </a:pPr>
            <a:r>
              <a:rPr lang="en-US" b="1" dirty="0">
                <a:latin typeface="Garamond" panose="02020404030301010803" pitchFamily="18" charset="0"/>
              </a:rPr>
              <a:t>Noise in ECG signals</a:t>
            </a:r>
            <a:r>
              <a:rPr lang="en-US" dirty="0">
                <a:latin typeface="Garamond" panose="02020404030301010803" pitchFamily="18" charset="0"/>
              </a:rPr>
              <a:t>: ECG data is often corrupted by power line interference, baseline drift, and muscle activity, which affects the accuracy of detection.</a:t>
            </a:r>
          </a:p>
          <a:p>
            <a:pPr marL="742950" lvl="1" indent="-285750" algn="just">
              <a:buFont typeface="Arial" panose="020B0604020202020204" pitchFamily="34" charset="0"/>
              <a:buChar char="•"/>
            </a:pPr>
            <a:r>
              <a:rPr lang="en-US" b="1" dirty="0">
                <a:latin typeface="Garamond" panose="02020404030301010803" pitchFamily="18" charset="0"/>
              </a:rPr>
              <a:t>Class imbalance</a:t>
            </a:r>
            <a:r>
              <a:rPr lang="en-US" dirty="0">
                <a:latin typeface="Garamond" panose="02020404030301010803" pitchFamily="18" charset="0"/>
              </a:rPr>
              <a:t>: Some arrhythmia types are underrepresented in datasets, leading to biased predictions and reduced performance in detecting less frequent arrhythmia types.</a:t>
            </a:r>
          </a:p>
          <a:p>
            <a:pPr marL="742950" lvl="1" indent="-285750" algn="just">
              <a:buFont typeface="Arial" panose="020B0604020202020204" pitchFamily="34" charset="0"/>
              <a:buChar char="•"/>
            </a:pPr>
            <a:r>
              <a:rPr lang="en-US" b="1" dirty="0">
                <a:latin typeface="Garamond" panose="02020404030301010803" pitchFamily="18" charset="0"/>
              </a:rPr>
              <a:t>Temporal and spatial feature extraction</a:t>
            </a:r>
            <a:r>
              <a:rPr lang="en-US" dirty="0">
                <a:latin typeface="Garamond" panose="02020404030301010803" pitchFamily="18" charset="0"/>
              </a:rPr>
              <a:t>: Accurately capturing both the spatial (waveform characteristics) and temporal (time-dependent patterns) dependencies in ECG signals is crucial for effective classification.</a:t>
            </a:r>
          </a:p>
          <a:p>
            <a:pPr algn="just"/>
            <a:endParaRPr lang="en-US" b="1" dirty="0">
              <a:latin typeface="Garamond" panose="02020404030301010803" pitchFamily="18" charset="0"/>
            </a:endParaRPr>
          </a:p>
          <a:p>
            <a:pPr marL="342900" indent="-342900" algn="just">
              <a:buFont typeface="+mj-lt"/>
              <a:buAutoNum type="arabicPeriod"/>
            </a:pPr>
            <a:r>
              <a:rPr lang="en-US" b="1" dirty="0">
                <a:solidFill>
                  <a:srgbClr val="7030A0"/>
                </a:solidFill>
                <a:latin typeface="Garamond" panose="02020404030301010803" pitchFamily="18" charset="0"/>
              </a:rPr>
              <a:t>Objective:</a:t>
            </a:r>
          </a:p>
          <a:p>
            <a:pPr marL="742950" lvl="1" indent="-285750" algn="just">
              <a:buFont typeface="Arial" panose="020B0604020202020204" pitchFamily="34" charset="0"/>
              <a:buChar char="•"/>
            </a:pPr>
            <a:r>
              <a:rPr lang="en-US" dirty="0">
                <a:latin typeface="Garamond" panose="02020404030301010803" pitchFamily="18" charset="0"/>
              </a:rPr>
              <a:t>Develop a robust deep learning-based model combining </a:t>
            </a:r>
            <a:r>
              <a:rPr lang="en-US" b="1" dirty="0">
                <a:latin typeface="Garamond" panose="02020404030301010803" pitchFamily="18" charset="0"/>
              </a:rPr>
              <a:t>CNN</a:t>
            </a:r>
            <a:r>
              <a:rPr lang="en-US" dirty="0">
                <a:latin typeface="Garamond" panose="02020404030301010803" pitchFamily="18" charset="0"/>
              </a:rPr>
              <a:t> and </a:t>
            </a:r>
            <a:r>
              <a:rPr lang="en-US" b="1" dirty="0">
                <a:latin typeface="Garamond" panose="02020404030301010803" pitchFamily="18" charset="0"/>
              </a:rPr>
              <a:t>BiLSTM </a:t>
            </a:r>
            <a:r>
              <a:rPr lang="en-US" dirty="0">
                <a:latin typeface="Garamond" panose="02020404030301010803" pitchFamily="18" charset="0"/>
              </a:rPr>
              <a:t>and </a:t>
            </a:r>
            <a:r>
              <a:rPr lang="en-US" b="1" dirty="0">
                <a:latin typeface="Garamond" panose="02020404030301010803" pitchFamily="18" charset="0"/>
              </a:rPr>
              <a:t>Gated Convolution </a:t>
            </a:r>
            <a:r>
              <a:rPr lang="en-US" dirty="0">
                <a:latin typeface="Garamond" panose="02020404030301010803" pitchFamily="18" charset="0"/>
              </a:rPr>
              <a:t>to automatically detect and classify cardiac arrhythmias from ECG signals.</a:t>
            </a:r>
          </a:p>
        </p:txBody>
      </p:sp>
    </p:spTree>
    <p:extLst>
      <p:ext uri="{BB962C8B-B14F-4D97-AF65-F5344CB8AC3E}">
        <p14:creationId xmlns:p14="http://schemas.microsoft.com/office/powerpoint/2010/main" val="2780789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0DB1F-F7A2-79C8-31C3-F4F09B2116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3DD04D-F160-DA42-E4C9-49E7CD9DB429}"/>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Research Objective</a:t>
            </a:r>
            <a:endParaRPr lang="en-IN" sz="3000" b="1" dirty="0"/>
          </a:p>
        </p:txBody>
      </p:sp>
      <p:sp>
        <p:nvSpPr>
          <p:cNvPr id="4" name="TextBox 3">
            <a:extLst>
              <a:ext uri="{FF2B5EF4-FFF2-40B4-BE49-F238E27FC236}">
                <a16:creationId xmlns:a16="http://schemas.microsoft.com/office/drawing/2014/main" id="{03010219-56CD-E615-54B4-6E397560C7CD}"/>
              </a:ext>
            </a:extLst>
          </p:cNvPr>
          <p:cNvSpPr txBox="1"/>
          <p:nvPr/>
        </p:nvSpPr>
        <p:spPr>
          <a:xfrm>
            <a:off x="708057" y="1176950"/>
            <a:ext cx="11070501" cy="4696157"/>
          </a:xfrm>
          <a:prstGeom prst="rect">
            <a:avLst/>
          </a:prstGeom>
          <a:noFill/>
        </p:spPr>
        <p:txBody>
          <a:bodyPr wrap="square" rtlCol="0">
            <a:spAutoFit/>
          </a:bodyPr>
          <a:lstStyle/>
          <a:p>
            <a:pPr marL="457200" marR="0" lvl="0" indent="-457200" algn="just" defTabSz="914400" rtl="0" eaLnBrk="0" fontAlgn="base" latinLnBrk="0" hangingPunct="0">
              <a:lnSpc>
                <a:spcPct val="100000"/>
              </a:lnSpc>
              <a:spcBef>
                <a:spcPct val="0"/>
              </a:spcBef>
              <a:spcAft>
                <a:spcPts val="500"/>
              </a:spcAft>
              <a:buClrTx/>
              <a:buSzTx/>
              <a:buFont typeface="+mj-lt"/>
              <a:buAutoNum type="arabicPeriod"/>
              <a:tabLst/>
            </a:pPr>
            <a:r>
              <a:rPr kumimoji="0" lang="en-US" altLang="en-US" sz="2000" b="1" i="0" u="none" strike="noStrike" cap="none" normalizeH="0" baseline="0" dirty="0">
                <a:ln>
                  <a:noFill/>
                </a:ln>
                <a:solidFill>
                  <a:srgbClr val="7030A0"/>
                </a:solidFill>
                <a:effectLst/>
                <a:latin typeface="Garamond" panose="02020404030301010803" pitchFamily="18" charset="0"/>
              </a:rPr>
              <a:t>Hybrid Deep Learning Model Development:</a:t>
            </a:r>
            <a:endParaRPr kumimoji="0" lang="en-US" altLang="en-US" sz="2000" b="0" i="0" u="none" strike="noStrike" cap="none" normalizeH="0" baseline="0" dirty="0">
              <a:ln>
                <a:noFill/>
              </a:ln>
              <a:solidFill>
                <a:srgbClr val="7030A0"/>
              </a:solidFill>
              <a:effectLst/>
              <a:latin typeface="Garamond" panose="02020404030301010803" pitchFamily="18" charset="0"/>
            </a:endParaRPr>
          </a:p>
          <a:p>
            <a:pPr marL="800100" lvl="1" indent="-342900" algn="just" defTabSz="914400" eaLnBrk="0" fontAlgn="base" hangingPunct="0">
              <a:spcBef>
                <a:spcPct val="0"/>
              </a:spcBef>
              <a:spcAft>
                <a:spcPts val="100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Garamond" panose="02020404030301010803" pitchFamily="18" charset="0"/>
              </a:rPr>
              <a:t>Develop a hybrid deep learning model by combining </a:t>
            </a:r>
            <a:r>
              <a:rPr kumimoji="0" lang="en-US" altLang="en-US" sz="2000" b="1" i="0" u="none" strike="noStrike" cap="none" normalizeH="0" baseline="0" dirty="0">
                <a:ln>
                  <a:noFill/>
                </a:ln>
                <a:solidFill>
                  <a:schemeClr val="tx1"/>
                </a:solidFill>
                <a:effectLst/>
                <a:latin typeface="Garamond" panose="02020404030301010803" pitchFamily="18" charset="0"/>
              </a:rPr>
              <a:t>CNN</a:t>
            </a:r>
            <a:r>
              <a:rPr kumimoji="0" lang="en-US" altLang="en-US" sz="2000" b="0" i="0" u="none" strike="noStrike" cap="none" normalizeH="0" baseline="0" dirty="0">
                <a:ln>
                  <a:noFill/>
                </a:ln>
                <a:solidFill>
                  <a:schemeClr val="tx1"/>
                </a:solidFill>
                <a:effectLst/>
                <a:latin typeface="Garamond" panose="02020404030301010803" pitchFamily="18" charset="0"/>
              </a:rPr>
              <a:t> for spatial feature extraction, </a:t>
            </a:r>
            <a:r>
              <a:rPr kumimoji="0" lang="en-US" altLang="en-US" sz="2000" b="1" i="0" u="none" strike="noStrike" cap="none" normalizeH="0" baseline="0" dirty="0">
                <a:ln>
                  <a:noFill/>
                </a:ln>
                <a:solidFill>
                  <a:schemeClr val="tx1"/>
                </a:solidFill>
                <a:effectLst/>
                <a:latin typeface="Garamond" panose="02020404030301010803" pitchFamily="18" charset="0"/>
              </a:rPr>
              <a:t>BiLSTM</a:t>
            </a:r>
            <a:r>
              <a:rPr kumimoji="0" lang="en-US" altLang="en-US" sz="2000" b="0" i="0" u="none" strike="noStrike" cap="none" normalizeH="0" baseline="0" dirty="0">
                <a:ln>
                  <a:noFill/>
                </a:ln>
                <a:solidFill>
                  <a:schemeClr val="tx1"/>
                </a:solidFill>
                <a:effectLst/>
                <a:latin typeface="Garamond" panose="02020404030301010803" pitchFamily="18" charset="0"/>
              </a:rPr>
              <a:t> for temporal learning, and </a:t>
            </a:r>
            <a:r>
              <a:rPr kumimoji="0" lang="en-US" altLang="en-US" sz="2000" b="1" i="0" u="none" strike="noStrike" cap="none" normalizeH="0" baseline="0" dirty="0">
                <a:ln>
                  <a:noFill/>
                </a:ln>
                <a:solidFill>
                  <a:schemeClr val="tx1"/>
                </a:solidFill>
                <a:effectLst/>
                <a:latin typeface="Garamond" panose="02020404030301010803" pitchFamily="18" charset="0"/>
              </a:rPr>
              <a:t>Gated Convolution</a:t>
            </a:r>
            <a:r>
              <a:rPr kumimoji="0" lang="en-US" altLang="en-US" sz="2000" b="0" i="0" u="none" strike="noStrike" cap="none" normalizeH="0" baseline="0" dirty="0">
                <a:ln>
                  <a:noFill/>
                </a:ln>
                <a:solidFill>
                  <a:schemeClr val="tx1"/>
                </a:solidFill>
                <a:effectLst/>
                <a:latin typeface="Garamond" panose="02020404030301010803" pitchFamily="18" charset="0"/>
              </a:rPr>
              <a:t> for enhanced feature representation to improve arrhythmia detection.</a:t>
            </a:r>
          </a:p>
          <a:p>
            <a:pPr marL="457200" marR="0" lvl="0" indent="-457200" algn="just" defTabSz="914400" rtl="0" eaLnBrk="0" fontAlgn="base" latinLnBrk="0" hangingPunct="0">
              <a:lnSpc>
                <a:spcPct val="100000"/>
              </a:lnSpc>
              <a:spcBef>
                <a:spcPct val="0"/>
              </a:spcBef>
              <a:spcAft>
                <a:spcPts val="500"/>
              </a:spcAft>
              <a:buClrTx/>
              <a:buSzTx/>
              <a:buFont typeface="+mj-lt"/>
              <a:buAutoNum type="arabicPeriod"/>
              <a:tabLst/>
            </a:pPr>
            <a:r>
              <a:rPr kumimoji="0" lang="en-US" altLang="en-US" sz="2000" b="1" i="0" u="none" strike="noStrike" cap="none" normalizeH="0" baseline="0" dirty="0">
                <a:ln>
                  <a:noFill/>
                </a:ln>
                <a:solidFill>
                  <a:srgbClr val="7030A0"/>
                </a:solidFill>
                <a:effectLst/>
                <a:latin typeface="Garamond" panose="02020404030301010803" pitchFamily="18" charset="0"/>
              </a:rPr>
              <a:t>Improved Arrhythmia Detection:</a:t>
            </a:r>
            <a:endParaRPr kumimoji="0" lang="en-US" altLang="en-US" sz="2000" b="0" i="0" u="none" strike="noStrike" cap="none" normalizeH="0" baseline="0" dirty="0">
              <a:ln>
                <a:noFill/>
              </a:ln>
              <a:solidFill>
                <a:srgbClr val="7030A0"/>
              </a:solidFill>
              <a:effectLst/>
              <a:latin typeface="Garamond" panose="02020404030301010803" pitchFamily="18" charset="0"/>
            </a:endParaRPr>
          </a:p>
          <a:p>
            <a:pPr marL="800100" lvl="1" indent="-342900" algn="just" defTabSz="914400" eaLnBrk="0" fontAlgn="base" hangingPunct="0">
              <a:spcBef>
                <a:spcPct val="0"/>
              </a:spcBef>
              <a:spcAft>
                <a:spcPts val="100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Garamond" panose="02020404030301010803" pitchFamily="18" charset="0"/>
              </a:rPr>
              <a:t>Achieve high </a:t>
            </a:r>
            <a:r>
              <a:rPr kumimoji="0" lang="en-US" altLang="en-US" sz="2000" b="1" i="0" u="none" strike="noStrike" cap="none" normalizeH="0" baseline="0" dirty="0">
                <a:ln>
                  <a:noFill/>
                </a:ln>
                <a:solidFill>
                  <a:schemeClr val="tx1"/>
                </a:solidFill>
                <a:effectLst/>
                <a:latin typeface="Garamond" panose="02020404030301010803" pitchFamily="18" charset="0"/>
              </a:rPr>
              <a:t>accuracy</a:t>
            </a:r>
            <a:r>
              <a:rPr kumimoji="0" lang="en-US" altLang="en-US" sz="2000" b="0" i="0" u="none" strike="noStrike" cap="none" normalizeH="0" baseline="0" dirty="0">
                <a:ln>
                  <a:noFill/>
                </a:ln>
                <a:solidFill>
                  <a:schemeClr val="tx1"/>
                </a:solidFill>
                <a:effectLst/>
                <a:latin typeface="Garamond" panose="02020404030301010803" pitchFamily="18" charset="0"/>
              </a:rPr>
              <a:t> and reduce </a:t>
            </a:r>
            <a:r>
              <a:rPr kumimoji="0" lang="en-US" altLang="en-US" sz="2000" b="1" i="0" u="none" strike="noStrike" cap="none" normalizeH="0" baseline="0" dirty="0">
                <a:ln>
                  <a:noFill/>
                </a:ln>
                <a:solidFill>
                  <a:schemeClr val="tx1"/>
                </a:solidFill>
                <a:effectLst/>
                <a:latin typeface="Garamond" panose="02020404030301010803" pitchFamily="18" charset="0"/>
              </a:rPr>
              <a:t>false positives/negatives</a:t>
            </a:r>
            <a:r>
              <a:rPr kumimoji="0" lang="en-US" altLang="en-US" sz="2000" b="0" i="0" u="none" strike="noStrike" cap="none" normalizeH="0" baseline="0" dirty="0">
                <a:ln>
                  <a:noFill/>
                </a:ln>
                <a:solidFill>
                  <a:schemeClr val="tx1"/>
                </a:solidFill>
                <a:effectLst/>
                <a:latin typeface="Garamond" panose="02020404030301010803" pitchFamily="18" charset="0"/>
              </a:rPr>
              <a:t> to ensure reliable detection of heart conditions, especially rare arrhythmias.</a:t>
            </a:r>
          </a:p>
          <a:p>
            <a:pPr marL="457200" marR="0" lvl="0" indent="-457200" algn="just" defTabSz="914400" rtl="0" eaLnBrk="0" fontAlgn="base" latinLnBrk="0" hangingPunct="0">
              <a:lnSpc>
                <a:spcPct val="100000"/>
              </a:lnSpc>
              <a:spcBef>
                <a:spcPct val="0"/>
              </a:spcBef>
              <a:spcAft>
                <a:spcPts val="500"/>
              </a:spcAft>
              <a:buClrTx/>
              <a:buSzTx/>
              <a:buFont typeface="+mj-lt"/>
              <a:buAutoNum type="arabicPeriod"/>
              <a:tabLst/>
            </a:pPr>
            <a:r>
              <a:rPr kumimoji="0" lang="en-US" altLang="en-US" sz="2000" b="1" i="0" u="none" strike="noStrike" cap="none" normalizeH="0" baseline="0" dirty="0">
                <a:ln>
                  <a:noFill/>
                </a:ln>
                <a:solidFill>
                  <a:srgbClr val="7030A0"/>
                </a:solidFill>
                <a:effectLst/>
                <a:latin typeface="Garamond" panose="02020404030301010803" pitchFamily="18" charset="0"/>
              </a:rPr>
              <a:t>Enhanced Efficiency and Generalization:</a:t>
            </a:r>
            <a:endParaRPr kumimoji="0" lang="en-US" altLang="en-US" sz="2000" b="0" i="0" u="none" strike="noStrike" cap="none" normalizeH="0" baseline="0" dirty="0">
              <a:ln>
                <a:noFill/>
              </a:ln>
              <a:solidFill>
                <a:srgbClr val="7030A0"/>
              </a:solidFill>
              <a:effectLst/>
              <a:latin typeface="Garamond" panose="02020404030301010803" pitchFamily="18" charset="0"/>
            </a:endParaRPr>
          </a:p>
          <a:p>
            <a:pPr marL="800100" lvl="1" indent="-342900" algn="just" defTabSz="9144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Garamond" panose="02020404030301010803" pitchFamily="18" charset="0"/>
              </a:rPr>
              <a:t>Ensure </a:t>
            </a:r>
            <a:r>
              <a:rPr kumimoji="0" lang="en-US" altLang="en-US" sz="2000" i="0" u="none" strike="noStrike" cap="none" normalizeH="0" baseline="0" dirty="0">
                <a:ln>
                  <a:noFill/>
                </a:ln>
                <a:solidFill>
                  <a:schemeClr val="tx1"/>
                </a:solidFill>
                <a:effectLst/>
                <a:latin typeface="Garamond" panose="02020404030301010803" pitchFamily="18" charset="0"/>
              </a:rPr>
              <a:t>computational efficiency and generalization</a:t>
            </a:r>
            <a:r>
              <a:rPr kumimoji="0" lang="en-US" altLang="en-US" sz="2000" b="0" i="0" u="none" strike="noStrike" cap="none" normalizeH="0" baseline="0" dirty="0">
                <a:ln>
                  <a:noFill/>
                </a:ln>
                <a:solidFill>
                  <a:schemeClr val="tx1"/>
                </a:solidFill>
                <a:effectLst/>
                <a:latin typeface="Garamond" panose="02020404030301010803" pitchFamily="18" charset="0"/>
              </a:rPr>
              <a:t> across diverse ECG datasets for broader applicability in real-time diagnostics.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lang="en-IN" sz="1600" dirty="0">
              <a:effectLst/>
              <a:latin typeface="Garamond" panose="02020404030301010803"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3714515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661A59-2635-9555-0580-F9561EC43F2C}"/>
              </a:ext>
            </a:extLst>
          </p:cNvPr>
          <p:cNvSpPr txBox="1"/>
          <p:nvPr/>
        </p:nvSpPr>
        <p:spPr>
          <a:xfrm>
            <a:off x="4141218" y="2850770"/>
            <a:ext cx="3909564" cy="70788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4000" b="1" u="none" strike="noStrike" kern="1200" cap="none" spc="0" normalizeH="0" baseline="0" noProof="0" dirty="0">
                <a:ln>
                  <a:noFill/>
                </a:ln>
                <a:solidFill>
                  <a:srgbClr val="D34817"/>
                </a:solidFill>
                <a:effectLst/>
                <a:uLnTx/>
                <a:uFillTx/>
                <a:latin typeface="Garamond" panose="02020404030301010803" pitchFamily="18" charset="0"/>
                <a:ea typeface="+mn-ea"/>
                <a:cs typeface="+mn-cs"/>
              </a:rPr>
              <a:t>Proposed System</a:t>
            </a:r>
            <a:endParaRPr kumimoji="0" lang="en-IN" sz="4000" b="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7701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B899C-A4EF-9245-E3BD-5AD0316C64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B51441-7F6F-D1BF-CA87-91B1E67E6C62}"/>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Proposed System Introduction</a:t>
            </a:r>
            <a:endParaRPr lang="en-IN" sz="3000" b="1" dirty="0"/>
          </a:p>
        </p:txBody>
      </p:sp>
      <p:sp>
        <p:nvSpPr>
          <p:cNvPr id="4" name="TextBox 3">
            <a:extLst>
              <a:ext uri="{FF2B5EF4-FFF2-40B4-BE49-F238E27FC236}">
                <a16:creationId xmlns:a16="http://schemas.microsoft.com/office/drawing/2014/main" id="{6EBD19AD-95D9-D547-00B0-962F67D88FA5}"/>
              </a:ext>
            </a:extLst>
          </p:cNvPr>
          <p:cNvSpPr txBox="1"/>
          <p:nvPr/>
        </p:nvSpPr>
        <p:spPr>
          <a:xfrm>
            <a:off x="708057" y="1176950"/>
            <a:ext cx="11070501" cy="5765681"/>
          </a:xfrm>
          <a:prstGeom prst="rect">
            <a:avLst/>
          </a:prstGeom>
          <a:noFill/>
        </p:spPr>
        <p:txBody>
          <a:bodyPr wrap="square" rtlCol="0">
            <a:spAutoFit/>
          </a:bodyPr>
          <a:lstStyle/>
          <a:p>
            <a:pPr>
              <a:spcAft>
                <a:spcPts val="300"/>
              </a:spcAft>
            </a:pPr>
            <a:r>
              <a:rPr lang="en-US" sz="1700" dirty="0">
                <a:latin typeface="Garamond" panose="02020404030301010803" pitchFamily="18" charset="0"/>
              </a:rPr>
              <a:t>The proposed system is designed for automated arrhythmia detection using the MIT-BIH Arrhythmia Database. It integrates signal processing techniques with a hybrid deep learning model to classify ECG signals into five categories: Normal (N), Supraventricular Ectopic (S), Ventricular Ectopic (V), Fusion (F), and Unknown (Q).</a:t>
            </a:r>
          </a:p>
          <a:p>
            <a:pPr>
              <a:spcAft>
                <a:spcPts val="500"/>
              </a:spcAft>
            </a:pPr>
            <a:r>
              <a:rPr lang="en-US" sz="1700" dirty="0">
                <a:latin typeface="Garamond" panose="02020404030301010803" pitchFamily="18" charset="0"/>
              </a:rPr>
              <a:t>The system consists of the following key stages:</a:t>
            </a:r>
          </a:p>
          <a:p>
            <a:pPr marL="342900" indent="-342900">
              <a:buFont typeface="+mj-lt"/>
              <a:buAutoNum type="arabicPeriod"/>
            </a:pPr>
            <a:r>
              <a:rPr lang="en-US" sz="1700" b="1" dirty="0">
                <a:solidFill>
                  <a:srgbClr val="7030A0"/>
                </a:solidFill>
                <a:latin typeface="Garamond" panose="02020404030301010803" pitchFamily="18" charset="0"/>
              </a:rPr>
              <a:t>Signal Preprocessing</a:t>
            </a:r>
            <a:r>
              <a:rPr lang="en-US" sz="1700" dirty="0">
                <a:solidFill>
                  <a:srgbClr val="7030A0"/>
                </a:solidFill>
                <a:latin typeface="Garamond" panose="02020404030301010803" pitchFamily="18" charset="0"/>
              </a:rPr>
              <a:t>: </a:t>
            </a:r>
            <a:r>
              <a:rPr lang="en-US" sz="1700" dirty="0">
                <a:latin typeface="Garamond" panose="02020404030301010803" pitchFamily="18" charset="0"/>
              </a:rPr>
              <a:t>This stage includes denoising the raw ECG signals to remove noise and artifacts, detecting R-peaks using Pan-Tompkins algorithm, segmenting heartbeats, and addressing class imbalance to ensure robust training.</a:t>
            </a:r>
          </a:p>
          <a:p>
            <a:pPr marL="342900" indent="-342900">
              <a:buFont typeface="+mj-lt"/>
              <a:buAutoNum type="arabicPeriod"/>
            </a:pPr>
            <a:r>
              <a:rPr lang="en-US" sz="1700" b="1" dirty="0">
                <a:solidFill>
                  <a:srgbClr val="7030A0"/>
                </a:solidFill>
                <a:latin typeface="Garamond" panose="02020404030301010803" pitchFamily="18" charset="0"/>
              </a:rPr>
              <a:t>Data Splitting</a:t>
            </a:r>
            <a:r>
              <a:rPr lang="en-US" sz="1700" dirty="0">
                <a:solidFill>
                  <a:srgbClr val="7030A0"/>
                </a:solidFill>
                <a:latin typeface="Garamond" panose="02020404030301010803" pitchFamily="18" charset="0"/>
              </a:rPr>
              <a:t>: </a:t>
            </a:r>
            <a:r>
              <a:rPr lang="en-US" sz="1700" dirty="0">
                <a:latin typeface="Garamond" panose="02020404030301010803" pitchFamily="18" charset="0"/>
              </a:rPr>
              <a:t>Preprocessed data is split into 80% training and 20% testing sets to facilitate model training and evaluation.</a:t>
            </a:r>
          </a:p>
          <a:p>
            <a:pPr marL="342900" indent="-342900">
              <a:buFont typeface="+mj-lt"/>
              <a:buAutoNum type="arabicPeriod"/>
            </a:pPr>
            <a:r>
              <a:rPr lang="en-US" sz="1700" b="1" dirty="0">
                <a:solidFill>
                  <a:srgbClr val="7030A0"/>
                </a:solidFill>
                <a:latin typeface="Garamond" panose="02020404030301010803" pitchFamily="18" charset="0"/>
              </a:rPr>
              <a:t>Hybrid Model Architecture</a:t>
            </a:r>
            <a:r>
              <a:rPr lang="en-US" sz="1700" dirty="0">
                <a:solidFill>
                  <a:srgbClr val="7030A0"/>
                </a:solidFill>
                <a:latin typeface="Garamond" panose="02020404030301010803" pitchFamily="18" charset="0"/>
              </a:rPr>
              <a:t>:</a:t>
            </a:r>
          </a:p>
          <a:p>
            <a:pPr marL="857250" lvl="1" indent="-400050">
              <a:buFont typeface="+mj-lt"/>
              <a:buAutoNum type="romanLcPeriod"/>
            </a:pPr>
            <a:r>
              <a:rPr lang="en-US" sz="1700" b="1" dirty="0">
                <a:latin typeface="Garamond" panose="02020404030301010803" pitchFamily="18" charset="0"/>
              </a:rPr>
              <a:t>Feature Extraction</a:t>
            </a:r>
            <a:r>
              <a:rPr lang="en-US" sz="1700" dirty="0">
                <a:latin typeface="Garamond" panose="02020404030301010803" pitchFamily="18" charset="0"/>
              </a:rPr>
              <a:t>: A combination of 1D Convolutional Neural Networks (CNNs) and Gated Convolutions is employed to extract spatial and temporal features from ECG signals.</a:t>
            </a:r>
          </a:p>
          <a:p>
            <a:pPr marL="857250" lvl="1" indent="-400050">
              <a:buFont typeface="+mj-lt"/>
              <a:buAutoNum type="romanLcPeriod"/>
            </a:pPr>
            <a:r>
              <a:rPr lang="en-US" sz="1700" b="1" dirty="0">
                <a:latin typeface="Garamond" panose="02020404030301010803" pitchFamily="18" charset="0"/>
              </a:rPr>
              <a:t>Sequence Modeling</a:t>
            </a:r>
            <a:r>
              <a:rPr lang="en-US" sz="1700" dirty="0">
                <a:latin typeface="Garamond" panose="02020404030301010803" pitchFamily="18" charset="0"/>
              </a:rPr>
              <a:t>: A Bi-directional Long Short-Term Memory (BiLSTM) network captures contextual dependencies in the extracted features.</a:t>
            </a:r>
          </a:p>
          <a:p>
            <a:pPr marL="342900" indent="-342900">
              <a:buFont typeface="+mj-lt"/>
              <a:buAutoNum type="arabicPeriod"/>
            </a:pPr>
            <a:r>
              <a:rPr lang="en-US" sz="1700" b="1" dirty="0">
                <a:solidFill>
                  <a:srgbClr val="7030A0"/>
                </a:solidFill>
                <a:latin typeface="Garamond" panose="02020404030301010803" pitchFamily="18" charset="0"/>
              </a:rPr>
              <a:t>Classification</a:t>
            </a:r>
            <a:r>
              <a:rPr lang="en-US" sz="1700" dirty="0">
                <a:solidFill>
                  <a:srgbClr val="7030A0"/>
                </a:solidFill>
                <a:latin typeface="Garamond" panose="02020404030301010803" pitchFamily="18" charset="0"/>
              </a:rPr>
              <a:t>: </a:t>
            </a:r>
            <a:r>
              <a:rPr lang="en-US" sz="1700" dirty="0">
                <a:latin typeface="Garamond" panose="02020404030301010803" pitchFamily="18" charset="0"/>
              </a:rPr>
              <a:t>The hybrid model outputs predictions for the five arrhythmia classes.</a:t>
            </a:r>
          </a:p>
          <a:p>
            <a:pPr marL="342900" indent="-342900">
              <a:spcAft>
                <a:spcPts val="600"/>
              </a:spcAft>
              <a:buFont typeface="+mj-lt"/>
              <a:buAutoNum type="arabicPeriod"/>
            </a:pPr>
            <a:r>
              <a:rPr lang="en-US" sz="1700" b="1" dirty="0">
                <a:solidFill>
                  <a:srgbClr val="7030A0"/>
                </a:solidFill>
                <a:latin typeface="Garamond" panose="02020404030301010803" pitchFamily="18" charset="0"/>
              </a:rPr>
              <a:t>Performance Evaluation</a:t>
            </a:r>
            <a:r>
              <a:rPr lang="en-US" sz="1700" dirty="0">
                <a:solidFill>
                  <a:srgbClr val="7030A0"/>
                </a:solidFill>
                <a:latin typeface="Garamond" panose="02020404030301010803" pitchFamily="18" charset="0"/>
              </a:rPr>
              <a:t>: </a:t>
            </a:r>
            <a:r>
              <a:rPr lang="en-US" sz="1700" dirty="0">
                <a:latin typeface="Garamond" panose="02020404030301010803" pitchFamily="18" charset="0"/>
              </a:rPr>
              <a:t>The model's performance is validated using metrics such as accuracy, sensitivity, specificity, and F1 score.</a:t>
            </a:r>
          </a:p>
          <a:p>
            <a:r>
              <a:rPr lang="en-US" sz="1700" dirty="0">
                <a:latin typeface="Garamond" panose="02020404030301010803" pitchFamily="18" charset="0"/>
              </a:rPr>
              <a:t>This system leverages signal processing and deep learning to provide an efficient and reliable approach for arrhythmia detection, addressing the challenges of noise, data imbalance, and real-time classification.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Tree>
    <p:extLst>
      <p:ext uri="{BB962C8B-B14F-4D97-AF65-F5344CB8AC3E}">
        <p14:creationId xmlns:p14="http://schemas.microsoft.com/office/powerpoint/2010/main" val="3931058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8B675-09E5-749F-F989-68DAA44B22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6A716D-9C58-F033-AC03-4560A4AF0FD3}"/>
              </a:ext>
            </a:extLst>
          </p:cNvPr>
          <p:cNvSpPr txBox="1"/>
          <p:nvPr/>
        </p:nvSpPr>
        <p:spPr>
          <a:xfrm>
            <a:off x="794321" y="2658062"/>
            <a:ext cx="3053060" cy="1015663"/>
          </a:xfrm>
          <a:prstGeom prst="rect">
            <a:avLst/>
          </a:prstGeom>
          <a:noFill/>
        </p:spPr>
        <p:txBody>
          <a:bodyPr wrap="square">
            <a:spAutoFit/>
          </a:bodyPr>
          <a:lstStyle/>
          <a:p>
            <a:r>
              <a:rPr lang="en-IN" sz="3000" b="1" dirty="0">
                <a:solidFill>
                  <a:srgbClr val="7030A0"/>
                </a:solidFill>
                <a:latin typeface="Garamond" panose="02020404030301010803" pitchFamily="18" charset="0"/>
              </a:rPr>
              <a:t>Proposed System Diagram</a:t>
            </a:r>
            <a:endParaRPr lang="en-IN" sz="3000" b="1" dirty="0">
              <a:solidFill>
                <a:srgbClr val="7030A0"/>
              </a:solidFill>
            </a:endParaRPr>
          </a:p>
        </p:txBody>
      </p:sp>
      <p:pic>
        <p:nvPicPr>
          <p:cNvPr id="6" name="Picture 5">
            <a:extLst>
              <a:ext uri="{FF2B5EF4-FFF2-40B4-BE49-F238E27FC236}">
                <a16:creationId xmlns:a16="http://schemas.microsoft.com/office/drawing/2014/main" id="{E0036344-38A8-E3DF-3705-94EB05EC87A4}"/>
              </a:ext>
            </a:extLst>
          </p:cNvPr>
          <p:cNvPicPr>
            <a:picLocks noChangeAspect="1"/>
          </p:cNvPicPr>
          <p:nvPr/>
        </p:nvPicPr>
        <p:blipFill>
          <a:blip r:embed="rId2"/>
          <a:stretch>
            <a:fillRect/>
          </a:stretch>
        </p:blipFill>
        <p:spPr>
          <a:xfrm>
            <a:off x="4677485" y="69013"/>
            <a:ext cx="6157291" cy="6204650"/>
          </a:xfrm>
          <a:prstGeom prst="rect">
            <a:avLst/>
          </a:prstGeom>
        </p:spPr>
      </p:pic>
    </p:spTree>
    <p:extLst>
      <p:ext uri="{BB962C8B-B14F-4D97-AF65-F5344CB8AC3E}">
        <p14:creationId xmlns:p14="http://schemas.microsoft.com/office/powerpoint/2010/main" val="2671411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A2A7B-751C-570A-DA59-4FE4D0C348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A3E2C0-ABAD-65BE-EE4B-2DAFCD15EE24}"/>
              </a:ext>
            </a:extLst>
          </p:cNvPr>
          <p:cNvSpPr txBox="1"/>
          <p:nvPr/>
        </p:nvSpPr>
        <p:spPr>
          <a:xfrm>
            <a:off x="794321" y="2658062"/>
            <a:ext cx="3053060" cy="1015663"/>
          </a:xfrm>
          <a:prstGeom prst="rect">
            <a:avLst/>
          </a:prstGeom>
          <a:noFill/>
        </p:spPr>
        <p:txBody>
          <a:bodyPr wrap="square">
            <a:spAutoFit/>
          </a:bodyPr>
          <a:lstStyle/>
          <a:p>
            <a:r>
              <a:rPr lang="en-IN" sz="3000" b="1" dirty="0">
                <a:solidFill>
                  <a:srgbClr val="7030A0"/>
                </a:solidFill>
                <a:latin typeface="Garamond" panose="02020404030301010803" pitchFamily="18" charset="0"/>
              </a:rPr>
              <a:t>Architecture of proposed model</a:t>
            </a:r>
            <a:endParaRPr lang="en-IN" sz="3000" b="1" dirty="0">
              <a:solidFill>
                <a:srgbClr val="7030A0"/>
              </a:solidFill>
            </a:endParaRPr>
          </a:p>
        </p:txBody>
      </p:sp>
      <p:pic>
        <p:nvPicPr>
          <p:cNvPr id="4" name="Picture 3" descr="A diagram of a layer&#10;&#10;Description automatically generated with medium confidence">
            <a:extLst>
              <a:ext uri="{FF2B5EF4-FFF2-40B4-BE49-F238E27FC236}">
                <a16:creationId xmlns:a16="http://schemas.microsoft.com/office/drawing/2014/main" id="{C69620D2-0397-0B60-3500-800AFDEB3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4621" y="132180"/>
            <a:ext cx="7382027" cy="6122853"/>
          </a:xfrm>
          <a:prstGeom prst="rect">
            <a:avLst/>
          </a:prstGeom>
        </p:spPr>
      </p:pic>
    </p:spTree>
    <p:extLst>
      <p:ext uri="{BB962C8B-B14F-4D97-AF65-F5344CB8AC3E}">
        <p14:creationId xmlns:p14="http://schemas.microsoft.com/office/powerpoint/2010/main" val="3118015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5F028-1D6A-92C6-E766-6D2C004450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834E99-C1B1-1986-BFA6-97A99361C947}"/>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System Modules</a:t>
            </a:r>
            <a:endParaRPr lang="en-IN" sz="3000" b="1" dirty="0"/>
          </a:p>
        </p:txBody>
      </p:sp>
      <p:sp>
        <p:nvSpPr>
          <p:cNvPr id="4" name="TextBox 3">
            <a:extLst>
              <a:ext uri="{FF2B5EF4-FFF2-40B4-BE49-F238E27FC236}">
                <a16:creationId xmlns:a16="http://schemas.microsoft.com/office/drawing/2014/main" id="{7841C558-A3A9-8636-88C3-72FF758893CF}"/>
              </a:ext>
            </a:extLst>
          </p:cNvPr>
          <p:cNvSpPr txBox="1"/>
          <p:nvPr/>
        </p:nvSpPr>
        <p:spPr>
          <a:xfrm>
            <a:off x="708057" y="1176950"/>
            <a:ext cx="11070501" cy="6347892"/>
          </a:xfrm>
          <a:prstGeom prst="rect">
            <a:avLst/>
          </a:prstGeom>
          <a:noFill/>
        </p:spPr>
        <p:txBody>
          <a:bodyPr wrap="square" rtlCol="0">
            <a:spAutoFit/>
          </a:bodyPr>
          <a:lstStyle/>
          <a:p>
            <a:pPr marL="342900" marR="0" lvl="0" indent="-342900" algn="l" defTabSz="914400" rtl="0" eaLnBrk="0" fontAlgn="base" latinLnBrk="0" hangingPunct="0">
              <a:lnSpc>
                <a:spcPct val="100000"/>
              </a:lnSpc>
              <a:spcBef>
                <a:spcPct val="0"/>
              </a:spcBef>
              <a:spcAft>
                <a:spcPts val="200"/>
              </a:spcAft>
              <a:buClrTx/>
              <a:buSzTx/>
              <a:buFont typeface="+mj-lt"/>
              <a:buAutoNum type="arabicPeriod"/>
              <a:tabLst/>
            </a:pPr>
            <a:r>
              <a:rPr lang="en-IN" sz="1600" b="1" dirty="0">
                <a:solidFill>
                  <a:srgbClr val="7030A0"/>
                </a:solidFill>
                <a:latin typeface="Garamond" panose="02020404030301010803" pitchFamily="18" charset="0"/>
              </a:rPr>
              <a:t>Load MIT-BIH Dataset</a:t>
            </a:r>
            <a:endParaRPr kumimoji="0" lang="en-US" altLang="en-US" sz="1600" b="0" i="0" u="none" strike="noStrike" cap="none" normalizeH="0" baseline="0" dirty="0">
              <a:ln>
                <a:noFill/>
              </a:ln>
              <a:solidFill>
                <a:srgbClr val="7030A0"/>
              </a:solidFill>
              <a:effectLst/>
              <a:latin typeface="Garamond" panose="02020404030301010803" pitchFamily="18" charset="0"/>
            </a:endParaRP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The MIT-BIH Arrhythmia Database is loaded using the wfdb library.</a:t>
            </a: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ECG signals are retrieved from the database for each subject (e.g., 100, 101, etc.), using two channels of data.</a:t>
            </a: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The annotations for R-peaks and arrhythmia class labels are extracted using the </a:t>
            </a:r>
            <a:r>
              <a:rPr kumimoji="0" lang="en-US" altLang="en-US" sz="1600" b="0" i="0" u="none" strike="noStrike" cap="none" normalizeH="0" baseline="0" dirty="0" err="1">
                <a:ln>
                  <a:noFill/>
                </a:ln>
                <a:solidFill>
                  <a:schemeClr val="tx1"/>
                </a:solidFill>
                <a:effectLst/>
                <a:latin typeface="Garamond" panose="02020404030301010803" pitchFamily="18" charset="0"/>
              </a:rPr>
              <a:t>rdann</a:t>
            </a:r>
            <a:r>
              <a:rPr kumimoji="0" lang="en-US" altLang="en-US" sz="1600" b="0" i="0" u="none" strike="noStrike" cap="none" normalizeH="0" baseline="0" dirty="0">
                <a:ln>
                  <a:noFill/>
                </a:ln>
                <a:solidFill>
                  <a:schemeClr val="tx1"/>
                </a:solidFill>
                <a:effectLst/>
                <a:latin typeface="Garamond" panose="02020404030301010803" pitchFamily="18" charset="0"/>
              </a:rPr>
              <a:t> function.</a:t>
            </a: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The signals and their corresponding annotations are stored in arrays for further processing in the pipeline. </a:t>
            </a:r>
          </a:p>
          <a:p>
            <a:pPr marL="342900" indent="-342900" defTabSz="914400" eaLnBrk="0" fontAlgn="base" hangingPunct="0">
              <a:lnSpc>
                <a:spcPct val="150000"/>
              </a:lnSpc>
              <a:spcBef>
                <a:spcPct val="0"/>
              </a:spcBef>
              <a:spcAft>
                <a:spcPct val="0"/>
              </a:spcAft>
              <a:buFont typeface="+mj-lt"/>
              <a:buAutoNum type="arabicPeriod"/>
            </a:pPr>
            <a:endParaRPr lang="en-US" altLang="en-US" sz="1600" dirty="0">
              <a:latin typeface="Garamond" panose="02020404030301010803" pitchFamily="18" charset="0"/>
            </a:endParaRPr>
          </a:p>
          <a:p>
            <a:pPr marL="342900" indent="-342900">
              <a:spcAft>
                <a:spcPts val="200"/>
              </a:spcAft>
              <a:buFont typeface="+mj-lt"/>
              <a:buAutoNum type="arabicPeriod"/>
            </a:pPr>
            <a:r>
              <a:rPr lang="en-IN" sz="1600" b="1" dirty="0">
                <a:solidFill>
                  <a:srgbClr val="7030A0"/>
                </a:solidFill>
                <a:latin typeface="Garamond" panose="02020404030301010803" pitchFamily="18" charset="0"/>
              </a:rPr>
              <a:t>Denoising the ECG Signal</a:t>
            </a:r>
          </a:p>
          <a:p>
            <a:pPr marL="742950" lvl="1" indent="-285750">
              <a:lnSpc>
                <a:spcPct val="150000"/>
              </a:lnSpc>
              <a:buFont typeface="Arial" panose="020B0604020202020204" pitchFamily="34" charset="0"/>
              <a:buChar char="•"/>
            </a:pPr>
            <a:r>
              <a:rPr lang="en-IN" sz="1600" dirty="0">
                <a:latin typeface="Garamond" panose="02020404030301010803" pitchFamily="18" charset="0"/>
              </a:rPr>
              <a:t>Use Discrete Wavelet Transform (DWT) to denoise the ECG signal.</a:t>
            </a:r>
          </a:p>
          <a:p>
            <a:pPr marL="742950" lvl="1" indent="-285750">
              <a:lnSpc>
                <a:spcPct val="150000"/>
              </a:lnSpc>
              <a:buFont typeface="Arial" panose="020B0604020202020204" pitchFamily="34" charset="0"/>
              <a:buChar char="•"/>
            </a:pPr>
            <a:r>
              <a:rPr lang="en-IN" sz="1600" dirty="0">
                <a:latin typeface="Garamond" panose="02020404030301010803" pitchFamily="18" charset="0"/>
              </a:rPr>
              <a:t>Apply Daubechies wavelet (db5) for noise reduction.</a:t>
            </a:r>
          </a:p>
          <a:p>
            <a:pPr marL="742950" lvl="1" indent="-285750">
              <a:lnSpc>
                <a:spcPct val="150000"/>
              </a:lnSpc>
              <a:buFont typeface="Arial" panose="020B0604020202020204" pitchFamily="34" charset="0"/>
              <a:buChar char="•"/>
            </a:pPr>
            <a:r>
              <a:rPr lang="en-IN" sz="1600" dirty="0">
                <a:latin typeface="Garamond" panose="02020404030301010803" pitchFamily="18" charset="0"/>
              </a:rPr>
              <a:t>Decompose the signal into wavelet coefficients.</a:t>
            </a:r>
          </a:p>
          <a:p>
            <a:pPr marL="742950" lvl="1" indent="-285750">
              <a:lnSpc>
                <a:spcPct val="150000"/>
              </a:lnSpc>
              <a:buFont typeface="Arial" panose="020B0604020202020204" pitchFamily="34" charset="0"/>
              <a:buChar char="•"/>
            </a:pPr>
            <a:r>
              <a:rPr lang="en-IN" sz="1600" dirty="0">
                <a:latin typeface="Garamond" panose="02020404030301010803" pitchFamily="18" charset="0"/>
              </a:rPr>
              <a:t>Perform thresholding on detail coefficients to remove noise.</a:t>
            </a:r>
          </a:p>
          <a:p>
            <a:pPr marL="742950" lvl="1" indent="-285750">
              <a:lnSpc>
                <a:spcPct val="150000"/>
              </a:lnSpc>
              <a:buFont typeface="Arial" panose="020B0604020202020204" pitchFamily="34" charset="0"/>
              <a:buChar char="•"/>
            </a:pPr>
            <a:r>
              <a:rPr lang="en-IN" sz="1600" dirty="0">
                <a:latin typeface="Garamond" panose="02020404030301010803" pitchFamily="18" charset="0"/>
              </a:rPr>
              <a:t>Reconstruct the signal using the filtered coefficients.</a:t>
            </a:r>
          </a:p>
          <a:p>
            <a:pPr marL="742950" lvl="1" indent="-285750">
              <a:lnSpc>
                <a:spcPct val="150000"/>
              </a:lnSpc>
              <a:buFont typeface="Arial" panose="020B0604020202020204" pitchFamily="34" charset="0"/>
              <a:buChar char="•"/>
            </a:pPr>
            <a:r>
              <a:rPr lang="en-IN" sz="1600" dirty="0">
                <a:latin typeface="Garamond" panose="02020404030301010803" pitchFamily="18" charset="0"/>
              </a:rPr>
              <a:t>Resulting signal is cleaner, retaining key features like QRS complexes, P-waves, and T-waves.</a:t>
            </a:r>
          </a:p>
          <a:p>
            <a:pPr defTabSz="914400" eaLnBrk="0" fontAlgn="base" hangingPunct="0">
              <a:lnSpc>
                <a:spcPct val="150000"/>
              </a:lnSpc>
              <a:spcBef>
                <a:spcPct val="0"/>
              </a:spcBef>
              <a:spcAft>
                <a:spcPct val="0"/>
              </a:spcAft>
            </a:pPr>
            <a:endParaRPr kumimoji="0" lang="en-US" altLang="en-US" sz="1600" b="0" i="0" u="none" strike="noStrike" cap="none" normalizeH="0" baseline="0" dirty="0">
              <a:ln>
                <a:noFill/>
              </a:ln>
              <a:solidFill>
                <a:schemeClr val="tx1"/>
              </a:solidFill>
              <a:effectLst/>
              <a:latin typeface="Garamond" panose="02020404030301010803" pitchFamily="18"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lang="en-IN" sz="1600" b="1" dirty="0"/>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spTree>
    <p:extLst>
      <p:ext uri="{BB962C8B-B14F-4D97-AF65-F5344CB8AC3E}">
        <p14:creationId xmlns:p14="http://schemas.microsoft.com/office/powerpoint/2010/main" val="356419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4CFCB-78A8-7294-9D4D-DB9A4F72ED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FDAEA6-87E6-B81B-BDB7-5B7A8645EC4C}"/>
              </a:ext>
            </a:extLst>
          </p:cNvPr>
          <p:cNvSpPr txBox="1"/>
          <p:nvPr/>
        </p:nvSpPr>
        <p:spPr>
          <a:xfrm>
            <a:off x="708057" y="397746"/>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System Modules</a:t>
            </a:r>
            <a:endParaRPr lang="en-IN" sz="3000" b="1" dirty="0"/>
          </a:p>
        </p:txBody>
      </p:sp>
      <p:sp>
        <p:nvSpPr>
          <p:cNvPr id="4" name="TextBox 3">
            <a:extLst>
              <a:ext uri="{FF2B5EF4-FFF2-40B4-BE49-F238E27FC236}">
                <a16:creationId xmlns:a16="http://schemas.microsoft.com/office/drawing/2014/main" id="{E9304616-6AC2-7401-739C-AF624DBA4949}"/>
              </a:ext>
            </a:extLst>
          </p:cNvPr>
          <p:cNvSpPr txBox="1"/>
          <p:nvPr/>
        </p:nvSpPr>
        <p:spPr>
          <a:xfrm>
            <a:off x="708057" y="1064807"/>
            <a:ext cx="11070501" cy="7589257"/>
          </a:xfrm>
          <a:prstGeom prst="rect">
            <a:avLst/>
          </a:prstGeom>
          <a:noFill/>
        </p:spPr>
        <p:txBody>
          <a:bodyPr wrap="square" rtlCol="0">
            <a:spAutoFit/>
          </a:bodyPr>
          <a:lstStyle/>
          <a:p>
            <a:pPr marL="342900" indent="-342900">
              <a:spcAft>
                <a:spcPts val="200"/>
              </a:spcAft>
              <a:buFont typeface="+mj-lt"/>
              <a:buAutoNum type="arabicPeriod" startAt="3"/>
            </a:pPr>
            <a:r>
              <a:rPr lang="en-US" sz="1600" b="1" dirty="0">
                <a:solidFill>
                  <a:srgbClr val="7030A0"/>
                </a:solidFill>
                <a:latin typeface="Garamond" panose="02020404030301010803" pitchFamily="18" charset="0"/>
              </a:rPr>
              <a:t>R-Peak Detection using Pan-Tompkins Algorithm</a:t>
            </a:r>
          </a:p>
          <a:p>
            <a:pPr marL="742950" lvl="1" indent="-285750">
              <a:buFont typeface="Arial" panose="020B0604020202020204" pitchFamily="34" charset="0"/>
              <a:buChar char="•"/>
            </a:pPr>
            <a:r>
              <a:rPr lang="en-US" sz="1600" dirty="0">
                <a:latin typeface="Garamond" panose="02020404030301010803" pitchFamily="18" charset="0"/>
              </a:rPr>
              <a:t>Use the Pan-Tompkins algorithm for detecting R-peaks in the ECG signal.</a:t>
            </a:r>
          </a:p>
          <a:p>
            <a:pPr marL="742950" lvl="1" indent="-285750">
              <a:buFont typeface="Arial" panose="020B0604020202020204" pitchFamily="34" charset="0"/>
              <a:buChar char="•"/>
            </a:pPr>
            <a:r>
              <a:rPr lang="en-US" sz="1600" dirty="0">
                <a:latin typeface="Garamond" panose="02020404030301010803" pitchFamily="18" charset="0"/>
              </a:rPr>
              <a:t>Bandpass filter applied to remove noise.</a:t>
            </a:r>
          </a:p>
          <a:p>
            <a:pPr marL="742950" lvl="1" indent="-285750">
              <a:buFont typeface="Arial" panose="020B0604020202020204" pitchFamily="34" charset="0"/>
              <a:buChar char="•"/>
            </a:pPr>
            <a:r>
              <a:rPr lang="en-US" sz="1600" dirty="0">
                <a:latin typeface="Garamond" panose="02020404030301010803" pitchFamily="18" charset="0"/>
              </a:rPr>
              <a:t>Perform differentiation to highlight rapid changes in the ECG.</a:t>
            </a:r>
          </a:p>
          <a:p>
            <a:pPr marL="742950" lvl="1" indent="-285750">
              <a:buFont typeface="Arial" panose="020B0604020202020204" pitchFamily="34" charset="0"/>
              <a:buChar char="•"/>
            </a:pPr>
            <a:r>
              <a:rPr lang="en-US" sz="1600" dirty="0">
                <a:latin typeface="Garamond" panose="02020404030301010803" pitchFamily="18" charset="0"/>
              </a:rPr>
              <a:t>Apply squaring to emphasize significant features.</a:t>
            </a:r>
          </a:p>
          <a:p>
            <a:pPr marL="742950" lvl="1" indent="-285750">
              <a:buFont typeface="Arial" panose="020B0604020202020204" pitchFamily="34" charset="0"/>
              <a:buChar char="•"/>
            </a:pPr>
            <a:r>
              <a:rPr lang="en-US" sz="1600" dirty="0">
                <a:latin typeface="Garamond" panose="02020404030301010803" pitchFamily="18" charset="0"/>
              </a:rPr>
              <a:t>Moving window integration smooths the signal.</a:t>
            </a:r>
          </a:p>
          <a:p>
            <a:pPr marL="742950" lvl="1" indent="-285750">
              <a:spcAft>
                <a:spcPts val="500"/>
              </a:spcAft>
              <a:buFont typeface="Arial" panose="020B0604020202020204" pitchFamily="34" charset="0"/>
              <a:buChar char="•"/>
            </a:pPr>
            <a:r>
              <a:rPr lang="en-US" sz="1600" dirty="0">
                <a:latin typeface="Garamond" panose="02020404030301010803" pitchFamily="18" charset="0"/>
              </a:rPr>
              <a:t>Use adaptive thresholding to detect R-peaks.</a:t>
            </a:r>
            <a:endParaRPr lang="en-US" sz="1600" b="1" dirty="0"/>
          </a:p>
          <a:p>
            <a:pPr marL="342900" indent="-342900">
              <a:spcAft>
                <a:spcPts val="200"/>
              </a:spcAft>
              <a:buFont typeface="+mj-lt"/>
              <a:buAutoNum type="arabicPeriod" startAt="4"/>
            </a:pPr>
            <a:r>
              <a:rPr lang="en-US" sz="1600" b="1" dirty="0">
                <a:solidFill>
                  <a:srgbClr val="7030A0"/>
                </a:solidFill>
                <a:latin typeface="Garamond" panose="02020404030301010803" pitchFamily="18" charset="0"/>
              </a:rPr>
              <a:t>Heartbeat Segmentation</a:t>
            </a:r>
          </a:p>
          <a:p>
            <a:pPr marL="742950" lvl="1" indent="-285750">
              <a:buFont typeface="Arial" panose="020B0604020202020204" pitchFamily="34" charset="0"/>
              <a:buChar char="•"/>
            </a:pPr>
            <a:r>
              <a:rPr lang="en-US" sz="1600" dirty="0">
                <a:latin typeface="Garamond" panose="02020404030301010803" pitchFamily="18" charset="0"/>
              </a:rPr>
              <a:t>Segment ECG signal into individual heartbeats using detected R-peaks.</a:t>
            </a:r>
          </a:p>
          <a:p>
            <a:pPr marL="742950" lvl="1" indent="-285750">
              <a:buFont typeface="Arial" panose="020B0604020202020204" pitchFamily="34" charset="0"/>
              <a:buChar char="•"/>
            </a:pPr>
            <a:r>
              <a:rPr lang="en-US" sz="1600" dirty="0">
                <a:latin typeface="Garamond" panose="02020404030301010803" pitchFamily="18" charset="0"/>
              </a:rPr>
              <a:t>Each heartbeat is isolated into a fixed-length segment of 300 samples.</a:t>
            </a:r>
          </a:p>
          <a:p>
            <a:pPr marL="742950" lvl="1" indent="-285750">
              <a:buFont typeface="Arial" panose="020B0604020202020204" pitchFamily="34" charset="0"/>
              <a:buChar char="•"/>
            </a:pPr>
            <a:r>
              <a:rPr lang="en-US" sz="1600" dirty="0">
                <a:latin typeface="Garamond" panose="02020404030301010803" pitchFamily="18" charset="0"/>
              </a:rPr>
              <a:t>99 samples before the R-peak and 201 samples after the R-peak are used for segmentation.</a:t>
            </a:r>
          </a:p>
          <a:p>
            <a:pPr marL="742950" lvl="1" indent="-285750">
              <a:buFont typeface="Arial" panose="020B0604020202020204" pitchFamily="34" charset="0"/>
              <a:buChar char="•"/>
            </a:pPr>
            <a:r>
              <a:rPr lang="en-US" sz="1600" dirty="0">
                <a:latin typeface="Garamond" panose="02020404030301010803" pitchFamily="18" charset="0"/>
              </a:rPr>
              <a:t>Both channels of ECG data are used for segmentation.</a:t>
            </a:r>
          </a:p>
          <a:p>
            <a:pPr marL="742950" lvl="1" indent="-285750">
              <a:spcAft>
                <a:spcPts val="500"/>
              </a:spcAft>
              <a:buFont typeface="Arial" panose="020B0604020202020204" pitchFamily="34" charset="0"/>
              <a:buChar char="•"/>
            </a:pPr>
            <a:r>
              <a:rPr lang="en-US" sz="1600" dirty="0">
                <a:latin typeface="Garamond" panose="02020404030301010803" pitchFamily="18" charset="0"/>
              </a:rPr>
              <a:t>Segmented heartbeats are prepared for further analysis and classification.</a:t>
            </a:r>
          </a:p>
          <a:p>
            <a:pPr marL="342900" indent="-342900">
              <a:spcAft>
                <a:spcPts val="200"/>
              </a:spcAft>
              <a:buFont typeface="+mj-lt"/>
              <a:buAutoNum type="arabicPeriod" startAt="5"/>
            </a:pPr>
            <a:r>
              <a:rPr lang="en-IN" sz="1600" b="1" dirty="0">
                <a:solidFill>
                  <a:srgbClr val="7030A0"/>
                </a:solidFill>
                <a:latin typeface="Garamond" panose="02020404030301010803" pitchFamily="18" charset="0"/>
              </a:rPr>
              <a:t>Data Balancing and Augmentation</a:t>
            </a:r>
          </a:p>
          <a:p>
            <a:pPr marL="742950" lvl="1" indent="-285750">
              <a:spcAft>
                <a:spcPts val="130"/>
              </a:spcAft>
              <a:buFont typeface="Arial" panose="020B0604020202020204" pitchFamily="34" charset="0"/>
              <a:buChar char="•"/>
            </a:pPr>
            <a:r>
              <a:rPr lang="en-IN" sz="1600" dirty="0">
                <a:latin typeface="Garamond" panose="02020404030301010803" pitchFamily="18" charset="0"/>
              </a:rPr>
              <a:t>Address class imbalance in the dataset.</a:t>
            </a:r>
          </a:p>
          <a:p>
            <a:pPr marL="742950" lvl="1" indent="-285750">
              <a:spcAft>
                <a:spcPts val="130"/>
              </a:spcAft>
              <a:buFont typeface="Arial" panose="020B0604020202020204" pitchFamily="34" charset="0"/>
              <a:buChar char="•"/>
            </a:pPr>
            <a:r>
              <a:rPr lang="en-IN" sz="1600" dirty="0">
                <a:latin typeface="Garamond" panose="02020404030301010803" pitchFamily="18" charset="0"/>
              </a:rPr>
              <a:t>Use SMOTE (Synthetic Minority Oversampling Technique) for data balancing.</a:t>
            </a:r>
          </a:p>
          <a:p>
            <a:pPr marL="742950" lvl="1" indent="-285750">
              <a:spcAft>
                <a:spcPts val="130"/>
              </a:spcAft>
              <a:buFont typeface="Arial" panose="020B0604020202020204" pitchFamily="34" charset="0"/>
              <a:buChar char="•"/>
            </a:pPr>
            <a:r>
              <a:rPr lang="en-IN" sz="1600" dirty="0">
                <a:latin typeface="Garamond" panose="02020404030301010803" pitchFamily="18" charset="0"/>
              </a:rPr>
              <a:t>SMOTE generates synthetic samples for underrepresented arrhythmia types.</a:t>
            </a:r>
          </a:p>
          <a:p>
            <a:pPr marL="742950" lvl="1" indent="-285750">
              <a:spcAft>
                <a:spcPts val="130"/>
              </a:spcAft>
              <a:buFont typeface="Arial" panose="020B0604020202020204" pitchFamily="34" charset="0"/>
              <a:buChar char="•"/>
            </a:pPr>
            <a:r>
              <a:rPr lang="en-IN" sz="1600" dirty="0">
                <a:latin typeface="Garamond" panose="02020404030301010803" pitchFamily="18" charset="0"/>
              </a:rPr>
              <a:t>Balancing the data ensures the model doesn’t </a:t>
            </a:r>
            <a:r>
              <a:rPr lang="en-IN" sz="1600" dirty="0" err="1">
                <a:latin typeface="Garamond" panose="02020404030301010803" pitchFamily="18" charset="0"/>
              </a:rPr>
              <a:t>favor</a:t>
            </a:r>
            <a:r>
              <a:rPr lang="en-IN" sz="1600" dirty="0">
                <a:latin typeface="Garamond" panose="02020404030301010803" pitchFamily="18" charset="0"/>
              </a:rPr>
              <a:t> majority classes.</a:t>
            </a:r>
          </a:p>
          <a:p>
            <a:pPr marL="742950" lvl="1" indent="-285750">
              <a:spcAft>
                <a:spcPts val="800"/>
              </a:spcAft>
              <a:buFont typeface="Arial" panose="020B0604020202020204" pitchFamily="34" charset="0"/>
              <a:buChar char="•"/>
            </a:pPr>
            <a:r>
              <a:rPr lang="en-IN" sz="1600" dirty="0">
                <a:latin typeface="Garamond" panose="02020404030301010803" pitchFamily="18" charset="0"/>
              </a:rPr>
              <a:t>Improved generalization and performance in detecting all arrhythmia types.</a:t>
            </a:r>
          </a:p>
          <a:p>
            <a:pPr marL="742950" lvl="1" indent="-285750">
              <a:buFont typeface="Arial" panose="020B0604020202020204" pitchFamily="34" charset="0"/>
              <a:buChar char="•"/>
            </a:pPr>
            <a:endParaRPr lang="en-US" sz="1600" dirty="0">
              <a:latin typeface="Garamond" panose="02020404030301010803" pitchFamily="18" charset="0"/>
            </a:endParaRPr>
          </a:p>
          <a:p>
            <a:pPr marL="742950" lvl="1" indent="-285750">
              <a:lnSpc>
                <a:spcPct val="150000"/>
              </a:lnSpc>
              <a:buFont typeface="Arial" panose="020B0604020202020204" pitchFamily="34" charset="0"/>
              <a:buChar char="•"/>
            </a:pPr>
            <a:endParaRPr lang="en-US" sz="1600" dirty="0">
              <a:latin typeface="Garamond" panose="02020404030301010803" pitchFamily="18" charset="0"/>
            </a:endParaRPr>
          </a:p>
          <a:p>
            <a:pPr defTabSz="914400" eaLnBrk="0" fontAlgn="base" hangingPunct="0">
              <a:lnSpc>
                <a:spcPct val="150000"/>
              </a:lnSpc>
              <a:spcBef>
                <a:spcPct val="0"/>
              </a:spcBef>
              <a:spcAft>
                <a:spcPct val="0"/>
              </a:spcAft>
            </a:pPr>
            <a:endParaRPr kumimoji="0" lang="en-US" altLang="en-US" sz="1600" b="0" i="0" u="none" strike="noStrike" cap="none" normalizeH="0" baseline="0" dirty="0">
              <a:ln>
                <a:noFill/>
              </a:ln>
              <a:solidFill>
                <a:schemeClr val="tx1"/>
              </a:solidFill>
              <a:effectLst/>
              <a:latin typeface="Garamond" panose="02020404030301010803" pitchFamily="18" charset="0"/>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lang="en-IN" sz="1600" b="1" dirty="0"/>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p:txBody>
      </p:sp>
      <p:pic>
        <p:nvPicPr>
          <p:cNvPr id="2" name="Picture 1">
            <a:extLst>
              <a:ext uri="{FF2B5EF4-FFF2-40B4-BE49-F238E27FC236}">
                <a16:creationId xmlns:a16="http://schemas.microsoft.com/office/drawing/2014/main" id="{0FA8C8A5-35F6-AE51-462F-9B68E71E22B9}"/>
              </a:ext>
            </a:extLst>
          </p:cNvPr>
          <p:cNvPicPr>
            <a:picLocks noChangeAspect="1"/>
          </p:cNvPicPr>
          <p:nvPr/>
        </p:nvPicPr>
        <p:blipFill>
          <a:blip r:embed="rId2"/>
          <a:stretch>
            <a:fillRect/>
          </a:stretch>
        </p:blipFill>
        <p:spPr>
          <a:xfrm>
            <a:off x="7669691" y="1164475"/>
            <a:ext cx="4219575" cy="1647825"/>
          </a:xfrm>
          <a:prstGeom prst="rect">
            <a:avLst/>
          </a:prstGeom>
        </p:spPr>
      </p:pic>
    </p:spTree>
    <p:extLst>
      <p:ext uri="{BB962C8B-B14F-4D97-AF65-F5344CB8AC3E}">
        <p14:creationId xmlns:p14="http://schemas.microsoft.com/office/powerpoint/2010/main" val="853868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60790-4B1E-FF8E-3FC8-DEAA37B2528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DADEB6-18A7-08DF-5D64-7F50F3F7D0E5}"/>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System Modules</a:t>
            </a:r>
            <a:endParaRPr lang="en-IN" sz="3000" b="1" dirty="0"/>
          </a:p>
        </p:txBody>
      </p:sp>
      <p:sp>
        <p:nvSpPr>
          <p:cNvPr id="4" name="TextBox 3">
            <a:extLst>
              <a:ext uri="{FF2B5EF4-FFF2-40B4-BE49-F238E27FC236}">
                <a16:creationId xmlns:a16="http://schemas.microsoft.com/office/drawing/2014/main" id="{DE64C129-E528-F12C-8753-9981CC4243DF}"/>
              </a:ext>
            </a:extLst>
          </p:cNvPr>
          <p:cNvSpPr txBox="1"/>
          <p:nvPr/>
        </p:nvSpPr>
        <p:spPr>
          <a:xfrm>
            <a:off x="708057" y="1176950"/>
            <a:ext cx="11070501" cy="4665380"/>
          </a:xfrm>
          <a:prstGeom prst="rect">
            <a:avLst/>
          </a:prstGeom>
          <a:noFill/>
        </p:spPr>
        <p:txBody>
          <a:bodyPr wrap="square" rtlCol="0">
            <a:spAutoFit/>
          </a:bodyPr>
          <a:lstStyle/>
          <a:p>
            <a:pPr marL="342900" indent="-342900">
              <a:lnSpc>
                <a:spcPct val="150000"/>
              </a:lnSpc>
              <a:spcAft>
                <a:spcPts val="200"/>
              </a:spcAft>
              <a:buFont typeface="+mj-lt"/>
              <a:buAutoNum type="arabicPeriod" startAt="6"/>
            </a:pPr>
            <a:r>
              <a:rPr lang="en-IN" sz="1600" b="1" dirty="0">
                <a:solidFill>
                  <a:srgbClr val="7030A0"/>
                </a:solidFill>
                <a:latin typeface="Garamond" panose="02020404030301010803" pitchFamily="18" charset="0"/>
              </a:rPr>
              <a:t>Model Architecture and Training:</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Define a custom Gated Convolution layer to enhance feature extraction.</a:t>
            </a: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Use Conv1D layers with varying filter sizes and kernel sizes for capturing ECG signal features.</a:t>
            </a: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Apply batch normalization to stabilize learning and speed up convergence.</a:t>
            </a: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Incorporate pooling layers (</a:t>
            </a:r>
            <a:r>
              <a:rPr kumimoji="0" lang="en-US" altLang="en-US" sz="1600" b="0" i="0" u="none" strike="noStrike" cap="none" normalizeH="0" baseline="0" dirty="0" err="1">
                <a:ln>
                  <a:noFill/>
                </a:ln>
                <a:solidFill>
                  <a:schemeClr val="tx1"/>
                </a:solidFill>
                <a:effectLst/>
                <a:latin typeface="Garamond" panose="02020404030301010803" pitchFamily="18" charset="0"/>
              </a:rPr>
              <a:t>MaxPooling</a:t>
            </a:r>
            <a:r>
              <a:rPr kumimoji="0" lang="en-US" altLang="en-US" sz="1600" b="0" i="0" u="none" strike="noStrike" cap="none" normalizeH="0" baseline="0" dirty="0">
                <a:ln>
                  <a:noFill/>
                </a:ln>
                <a:solidFill>
                  <a:schemeClr val="tx1"/>
                </a:solidFill>
                <a:effectLst/>
                <a:latin typeface="Garamond" panose="02020404030301010803" pitchFamily="18" charset="0"/>
              </a:rPr>
              <a:t> and </a:t>
            </a:r>
            <a:r>
              <a:rPr kumimoji="0" lang="en-US" altLang="en-US" sz="1600" b="0" i="0" u="none" strike="noStrike" cap="none" normalizeH="0" baseline="0" dirty="0" err="1">
                <a:ln>
                  <a:noFill/>
                </a:ln>
                <a:solidFill>
                  <a:schemeClr val="tx1"/>
                </a:solidFill>
                <a:effectLst/>
                <a:latin typeface="Garamond" panose="02020404030301010803" pitchFamily="18" charset="0"/>
              </a:rPr>
              <a:t>AveragePooling</a:t>
            </a:r>
            <a:r>
              <a:rPr kumimoji="0" lang="en-US" altLang="en-US" sz="1600" b="0" i="0" u="none" strike="noStrike" cap="none" normalizeH="0" baseline="0" dirty="0">
                <a:ln>
                  <a:noFill/>
                </a:ln>
                <a:solidFill>
                  <a:schemeClr val="tx1"/>
                </a:solidFill>
                <a:effectLst/>
                <a:latin typeface="Garamond" panose="02020404030301010803" pitchFamily="18" charset="0"/>
              </a:rPr>
              <a:t>) to reduce feature map dimensions.</a:t>
            </a: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Add Bidirectional LSTM layers to capture temporal dependencies in ECG signals.</a:t>
            </a: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Use dense layers after LSTMs to learn high-level features for classification.</a:t>
            </a: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Compile the model using the Adam optimizer and sparse categorical </a:t>
            </a:r>
            <a:r>
              <a:rPr kumimoji="0" lang="en-US" altLang="en-US" sz="1600" b="0" i="0" u="none" strike="noStrike" cap="none" normalizeH="0" baseline="0" dirty="0" err="1">
                <a:ln>
                  <a:noFill/>
                </a:ln>
                <a:solidFill>
                  <a:schemeClr val="tx1"/>
                </a:solidFill>
                <a:effectLst/>
                <a:latin typeface="Garamond" panose="02020404030301010803" pitchFamily="18" charset="0"/>
              </a:rPr>
              <a:t>crossentropy</a:t>
            </a:r>
            <a:r>
              <a:rPr kumimoji="0" lang="en-US" altLang="en-US" sz="1600" b="0" i="0" u="none" strike="noStrike" cap="none" normalizeH="0" baseline="0" dirty="0">
                <a:ln>
                  <a:noFill/>
                </a:ln>
                <a:solidFill>
                  <a:schemeClr val="tx1"/>
                </a:solidFill>
                <a:effectLst/>
                <a:latin typeface="Garamond" panose="02020404030301010803" pitchFamily="18" charset="0"/>
              </a:rPr>
              <a:t> loss.</a:t>
            </a: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Train the model with a 20% validation split .</a:t>
            </a:r>
          </a:p>
          <a:p>
            <a:pPr marL="742950" lvl="1" indent="-285750" defTabSz="914400" eaLnBrk="0" fontAlgn="base" hangingPunct="0">
              <a:spcBef>
                <a:spcPts val="160"/>
              </a:spcBef>
              <a:spcAft>
                <a:spcPts val="1000"/>
              </a:spcAft>
              <a:buFont typeface="Arial" panose="020B0604020202020204" pitchFamily="34" charset="0"/>
              <a:buChar char="•"/>
            </a:pPr>
            <a:r>
              <a:rPr kumimoji="0" lang="en-US" altLang="en-US" sz="1600" b="0" i="0" u="none" strike="noStrike" cap="none" normalizeH="0" baseline="0" dirty="0">
                <a:ln>
                  <a:noFill/>
                </a:ln>
                <a:solidFill>
                  <a:schemeClr val="tx1"/>
                </a:solidFill>
                <a:effectLst/>
                <a:latin typeface="Garamond" panose="02020404030301010803" pitchFamily="18" charset="0"/>
              </a:rPr>
              <a:t>Plot training and validation accuracy and loss curves to evaluate model performance over epochs.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startAt="7"/>
              <a:tabLst/>
            </a:pPr>
            <a:r>
              <a:rPr lang="en-IN" sz="1600" b="1" dirty="0">
                <a:solidFill>
                  <a:srgbClr val="7030A0"/>
                </a:solidFill>
                <a:latin typeface="Garamond" panose="02020404030301010803" pitchFamily="18" charset="0"/>
              </a:rPr>
              <a:t>Results and Analysis</a:t>
            </a:r>
            <a:endParaRPr kumimoji="0" lang="en-US" altLang="en-US" sz="1600" b="1" i="0" u="none" strike="noStrike" cap="none" normalizeH="0" baseline="0" dirty="0">
              <a:ln>
                <a:noFill/>
              </a:ln>
              <a:solidFill>
                <a:srgbClr val="7030A0"/>
              </a:solidFill>
              <a:effectLst/>
              <a:latin typeface="Garamond" panose="02020404030301010803" pitchFamily="18" charset="0"/>
            </a:endParaRP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effectLst/>
                <a:latin typeface="Garamond" panose="02020404030301010803" pitchFamily="18" charset="0"/>
              </a:rPr>
              <a:t>Evaluate model performance using accuracy and loss metrics on both training and test sets.</a:t>
            </a: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effectLst/>
                <a:latin typeface="Garamond" panose="02020404030301010803" pitchFamily="18" charset="0"/>
              </a:rPr>
              <a:t>Generate confusion matrix to assess per-class predictions.</a:t>
            </a:r>
          </a:p>
          <a:p>
            <a:pPr marL="742950" lvl="1" indent="-285750" defTabSz="914400" eaLnBrk="0" fontAlgn="base" hangingPunct="0">
              <a:spcBef>
                <a:spcPts val="160"/>
              </a:spcBef>
              <a:spcAft>
                <a:spcPts val="160"/>
              </a:spcAft>
              <a:buFont typeface="Arial" panose="020B0604020202020204" pitchFamily="34" charset="0"/>
              <a:buChar char="•"/>
            </a:pPr>
            <a:r>
              <a:rPr kumimoji="0" lang="en-US" altLang="en-US" sz="1600" b="0" i="0" u="none" strike="noStrike" cap="none" normalizeH="0" baseline="0" dirty="0">
                <a:ln>
                  <a:noFill/>
                </a:ln>
                <a:effectLst/>
                <a:latin typeface="Garamond" panose="02020404030301010803" pitchFamily="18" charset="0"/>
              </a:rPr>
              <a:t>Compute classification metrics: sensitivity, specificity, F1 score, and per-class accuracy. </a:t>
            </a:r>
          </a:p>
          <a:p>
            <a:pPr marL="742950" lvl="1" indent="-285750" defTabSz="914400" eaLnBrk="0" fontAlgn="base" hangingPunct="0">
              <a:spcBef>
                <a:spcPts val="130"/>
              </a:spcBef>
              <a:spcAft>
                <a:spcPts val="130"/>
              </a:spcAft>
              <a:buFont typeface="Arial" panose="020B0604020202020204" pitchFamily="34" charset="0"/>
              <a:buChar char="•"/>
            </a:pPr>
            <a:endParaRPr kumimoji="0" lang="en-US" altLang="en-US" sz="1600" b="0" i="0" u="none" strike="noStrike" cap="none" normalizeH="0" baseline="0" dirty="0">
              <a:ln>
                <a:noFill/>
              </a:ln>
              <a:solidFill>
                <a:schemeClr val="tx1"/>
              </a:solidFill>
              <a:effectLst/>
              <a:latin typeface="Garamond" panose="02020404030301010803" pitchFamily="18" charset="0"/>
            </a:endParaRPr>
          </a:p>
        </p:txBody>
      </p:sp>
    </p:spTree>
    <p:extLst>
      <p:ext uri="{BB962C8B-B14F-4D97-AF65-F5344CB8AC3E}">
        <p14:creationId xmlns:p14="http://schemas.microsoft.com/office/powerpoint/2010/main" val="3190613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4A8045-9915-8EFF-4DFF-9357182291B8}"/>
              </a:ext>
            </a:extLst>
          </p:cNvPr>
          <p:cNvPicPr>
            <a:picLocks noChangeAspect="1"/>
          </p:cNvPicPr>
          <p:nvPr/>
        </p:nvPicPr>
        <p:blipFill>
          <a:blip r:embed="rId2"/>
          <a:stretch>
            <a:fillRect/>
          </a:stretch>
        </p:blipFill>
        <p:spPr>
          <a:xfrm>
            <a:off x="494461" y="394262"/>
            <a:ext cx="6478655" cy="3951207"/>
          </a:xfrm>
          <a:prstGeom prst="rect">
            <a:avLst/>
          </a:prstGeom>
        </p:spPr>
      </p:pic>
      <p:pic>
        <p:nvPicPr>
          <p:cNvPr id="5" name="Picture 4">
            <a:extLst>
              <a:ext uri="{FF2B5EF4-FFF2-40B4-BE49-F238E27FC236}">
                <a16:creationId xmlns:a16="http://schemas.microsoft.com/office/drawing/2014/main" id="{88897113-4037-527A-A66E-289A209A468A}"/>
              </a:ext>
            </a:extLst>
          </p:cNvPr>
          <p:cNvPicPr>
            <a:picLocks noChangeAspect="1"/>
          </p:cNvPicPr>
          <p:nvPr/>
        </p:nvPicPr>
        <p:blipFill>
          <a:blip r:embed="rId3"/>
          <a:stretch>
            <a:fillRect/>
          </a:stretch>
        </p:blipFill>
        <p:spPr>
          <a:xfrm>
            <a:off x="6294408" y="4669799"/>
            <a:ext cx="5572903" cy="1047896"/>
          </a:xfrm>
          <a:prstGeom prst="rect">
            <a:avLst/>
          </a:prstGeom>
        </p:spPr>
      </p:pic>
      <p:pic>
        <p:nvPicPr>
          <p:cNvPr id="7" name="Picture 6">
            <a:extLst>
              <a:ext uri="{FF2B5EF4-FFF2-40B4-BE49-F238E27FC236}">
                <a16:creationId xmlns:a16="http://schemas.microsoft.com/office/drawing/2014/main" id="{D28AD9A2-A682-37B8-AF59-F2EC1D3B5AF5}"/>
              </a:ext>
            </a:extLst>
          </p:cNvPr>
          <p:cNvPicPr>
            <a:picLocks noChangeAspect="1"/>
          </p:cNvPicPr>
          <p:nvPr/>
        </p:nvPicPr>
        <p:blipFill>
          <a:blip r:embed="rId4"/>
          <a:stretch>
            <a:fillRect/>
          </a:stretch>
        </p:blipFill>
        <p:spPr>
          <a:xfrm>
            <a:off x="493235" y="4488133"/>
            <a:ext cx="5404358" cy="1411227"/>
          </a:xfrm>
          <a:prstGeom prst="rect">
            <a:avLst/>
          </a:prstGeom>
        </p:spPr>
      </p:pic>
      <p:sp>
        <p:nvSpPr>
          <p:cNvPr id="9" name="TextBox 8">
            <a:extLst>
              <a:ext uri="{FF2B5EF4-FFF2-40B4-BE49-F238E27FC236}">
                <a16:creationId xmlns:a16="http://schemas.microsoft.com/office/drawing/2014/main" id="{5E036740-752D-A44F-56FA-68F366C5C96F}"/>
              </a:ext>
            </a:extLst>
          </p:cNvPr>
          <p:cNvSpPr txBox="1"/>
          <p:nvPr/>
        </p:nvSpPr>
        <p:spPr>
          <a:xfrm>
            <a:off x="493235" y="5915913"/>
            <a:ext cx="6094562" cy="307777"/>
          </a:xfrm>
          <a:prstGeom prst="rect">
            <a:avLst/>
          </a:prstGeom>
          <a:noFill/>
        </p:spPr>
        <p:txBody>
          <a:bodyPr wrap="square">
            <a:spAutoFit/>
          </a:bodyPr>
          <a:lstStyle/>
          <a:p>
            <a:r>
              <a:rPr lang="en-US" sz="1400" b="1" dirty="0">
                <a:solidFill>
                  <a:srgbClr val="7030A0"/>
                </a:solidFill>
                <a:latin typeface="Garamond" panose="02020404030301010803" pitchFamily="18" charset="0"/>
              </a:rPr>
              <a:t>Table displaying the number of samples in each class</a:t>
            </a:r>
            <a:endParaRPr lang="en-IN" sz="1400" b="1" dirty="0">
              <a:solidFill>
                <a:srgbClr val="7030A0"/>
              </a:solidFill>
              <a:latin typeface="Garamond" panose="02020404030301010803" pitchFamily="18" charset="0"/>
            </a:endParaRPr>
          </a:p>
        </p:txBody>
      </p:sp>
      <p:sp>
        <p:nvSpPr>
          <p:cNvPr id="10" name="TextBox 9">
            <a:extLst>
              <a:ext uri="{FF2B5EF4-FFF2-40B4-BE49-F238E27FC236}">
                <a16:creationId xmlns:a16="http://schemas.microsoft.com/office/drawing/2014/main" id="{8CC47A42-43F8-11A2-585D-DEBDC9EE0F16}"/>
              </a:ext>
            </a:extLst>
          </p:cNvPr>
          <p:cNvSpPr txBox="1"/>
          <p:nvPr/>
        </p:nvSpPr>
        <p:spPr>
          <a:xfrm>
            <a:off x="6291533" y="5734248"/>
            <a:ext cx="6094562" cy="307777"/>
          </a:xfrm>
          <a:prstGeom prst="rect">
            <a:avLst/>
          </a:prstGeom>
          <a:noFill/>
        </p:spPr>
        <p:txBody>
          <a:bodyPr wrap="square">
            <a:spAutoFit/>
          </a:bodyPr>
          <a:lstStyle/>
          <a:p>
            <a:r>
              <a:rPr lang="en-US" sz="1400" b="1" dirty="0">
                <a:solidFill>
                  <a:srgbClr val="7030A0"/>
                </a:solidFill>
                <a:latin typeface="Garamond" panose="02020404030301010803" pitchFamily="18" charset="0"/>
              </a:rPr>
              <a:t>Table showing the mapping of class labels to numbers</a:t>
            </a:r>
            <a:endParaRPr lang="en-IN" sz="1400" b="1" dirty="0">
              <a:solidFill>
                <a:srgbClr val="7030A0"/>
              </a:solidFill>
              <a:latin typeface="Garamond" panose="02020404030301010803" pitchFamily="18" charset="0"/>
            </a:endParaRPr>
          </a:p>
        </p:txBody>
      </p:sp>
    </p:spTree>
    <p:extLst>
      <p:ext uri="{BB962C8B-B14F-4D97-AF65-F5344CB8AC3E}">
        <p14:creationId xmlns:p14="http://schemas.microsoft.com/office/powerpoint/2010/main" val="439320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2E0CA-6058-C080-A9A9-37856E2D0C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5EDA71-8D5D-BAC5-199D-FC2E5037EEF0}"/>
              </a:ext>
            </a:extLst>
          </p:cNvPr>
          <p:cNvSpPr txBox="1"/>
          <p:nvPr/>
        </p:nvSpPr>
        <p:spPr>
          <a:xfrm>
            <a:off x="708057" y="458131"/>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Implementation Results</a:t>
            </a:r>
            <a:endParaRPr lang="en-IN" sz="3000" b="1" dirty="0"/>
          </a:p>
        </p:txBody>
      </p:sp>
      <p:sp>
        <p:nvSpPr>
          <p:cNvPr id="4" name="TextBox 3">
            <a:extLst>
              <a:ext uri="{FF2B5EF4-FFF2-40B4-BE49-F238E27FC236}">
                <a16:creationId xmlns:a16="http://schemas.microsoft.com/office/drawing/2014/main" id="{CB3021B2-DA81-E133-F47D-3E1EF08083D3}"/>
              </a:ext>
            </a:extLst>
          </p:cNvPr>
          <p:cNvSpPr txBox="1"/>
          <p:nvPr/>
        </p:nvSpPr>
        <p:spPr>
          <a:xfrm>
            <a:off x="708057" y="1176950"/>
            <a:ext cx="11070501" cy="3385542"/>
          </a:xfrm>
          <a:prstGeom prst="rect">
            <a:avLst/>
          </a:prstGeom>
          <a:noFill/>
        </p:spPr>
        <p:txBody>
          <a:bodyPr wrap="square" rtlCol="0">
            <a:spAutoFit/>
          </a:bodyPr>
          <a:lstStyle/>
          <a:p>
            <a:r>
              <a:rPr lang="en-US" sz="1600" dirty="0">
                <a:latin typeface="Garamond" panose="02020404030301010803" pitchFamily="18" charset="0"/>
              </a:rPr>
              <a:t>The model was trained using the CNN-BiLSTM with gated convolutions architecture for 30 epochs, with the training dataset consisting of 250000 samples. The goal was to evaluate the model’s performance in terms of its ability to learn from the data and generalize well to unseen data.</a:t>
            </a:r>
          </a:p>
          <a:p>
            <a:r>
              <a:rPr lang="en-US" sz="1600" dirty="0">
                <a:latin typeface="Garamond" panose="02020404030301010803" pitchFamily="18" charset="0"/>
              </a:rPr>
              <a:t>The proposed model’s performance was compared with another model with a standard CNN-LSTM architecture. Below are the results showing the training and test accuracy of the models:</a:t>
            </a:r>
          </a:p>
          <a:p>
            <a:pPr marR="0" lvl="0" algn="l" defTabSz="914400" rtl="0" eaLnBrk="0" fontAlgn="base" latinLnBrk="0" hangingPunct="0">
              <a:lnSpc>
                <a:spcPct val="100000"/>
              </a:lnSpc>
              <a:spcBef>
                <a:spcPct val="0"/>
              </a:spcBef>
              <a:spcAft>
                <a:spcPct val="0"/>
              </a:spcAft>
              <a:buClrTx/>
              <a:buSzTx/>
              <a:tabLst/>
            </a:pPr>
            <a:endParaRPr lang="en-US" sz="1600" dirty="0">
              <a:latin typeface="Garamond" panose="02020404030301010803" pitchFamily="18" charset="0"/>
            </a:endParaRPr>
          </a:p>
          <a:p>
            <a:pPr marR="0" lvl="0" algn="l" defTabSz="914400" rtl="0" eaLnBrk="0" fontAlgn="base" latinLnBrk="0" hangingPunct="0">
              <a:lnSpc>
                <a:spcPct val="100000"/>
              </a:lnSpc>
              <a:spcBef>
                <a:spcPct val="0"/>
              </a:spcBef>
              <a:spcAft>
                <a:spcPct val="0"/>
              </a:spcAft>
              <a:buClrTx/>
              <a:buSzTx/>
              <a:tabLst/>
            </a:pPr>
            <a:r>
              <a:rPr lang="en-IN" sz="1600" b="1" dirty="0">
                <a:solidFill>
                  <a:srgbClr val="7030A0"/>
                </a:solidFill>
                <a:latin typeface="Garamond" panose="02020404030301010803" pitchFamily="18" charset="0"/>
              </a:rPr>
              <a:t>CNN-</a:t>
            </a:r>
            <a:r>
              <a:rPr lang="en-IN" sz="1600" b="1" dirty="0" err="1">
                <a:solidFill>
                  <a:srgbClr val="7030A0"/>
                </a:solidFill>
                <a:latin typeface="Garamond" panose="02020404030301010803" pitchFamily="18" charset="0"/>
              </a:rPr>
              <a:t>BiLSTM</a:t>
            </a:r>
            <a:r>
              <a:rPr lang="en-IN" sz="1600" b="1" dirty="0">
                <a:solidFill>
                  <a:srgbClr val="7030A0"/>
                </a:solidFill>
                <a:latin typeface="Garamond" panose="02020404030301010803" pitchFamily="18" charset="0"/>
              </a:rPr>
              <a:t> with gated convolutions </a:t>
            </a:r>
            <a:endParaRPr lang="en-IN" sz="1600" b="1" dirty="0"/>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Arial" panose="020B0604020202020204" pitchFamily="34" charset="0"/>
            </a:endParaRPr>
          </a:p>
          <a:p>
            <a:endParaRPr lang="en-IN" sz="1700" dirty="0">
              <a:effectLst/>
              <a:latin typeface="Garamond" panose="02020404030301010803" pitchFamily="18" charset="0"/>
              <a:ea typeface="Times New Roman" panose="02020603050405020304" pitchFamily="18" charset="0"/>
            </a:endParaRPr>
          </a:p>
          <a:p>
            <a:endParaRPr lang="en-IN" sz="1700" dirty="0"/>
          </a:p>
          <a:p>
            <a:endParaRPr lang="en-IN" sz="1700" b="1" dirty="0">
              <a:solidFill>
                <a:srgbClr val="7030A0"/>
              </a:solidFill>
              <a:latin typeface="Garamond" panose="02020404030301010803" pitchFamily="18" charset="0"/>
            </a:endParaRPr>
          </a:p>
          <a:p>
            <a:r>
              <a:rPr lang="en-IN" sz="1700" b="1" dirty="0">
                <a:solidFill>
                  <a:srgbClr val="7030A0"/>
                </a:solidFill>
                <a:latin typeface="Garamond" panose="02020404030301010803" pitchFamily="18" charset="0"/>
              </a:rPr>
              <a:t>CNN-LSTM              </a:t>
            </a:r>
          </a:p>
        </p:txBody>
      </p:sp>
      <p:pic>
        <p:nvPicPr>
          <p:cNvPr id="8" name="Picture 7">
            <a:extLst>
              <a:ext uri="{FF2B5EF4-FFF2-40B4-BE49-F238E27FC236}">
                <a16:creationId xmlns:a16="http://schemas.microsoft.com/office/drawing/2014/main" id="{353D71E5-01E4-9CD5-2CFA-5E53E6A41450}"/>
              </a:ext>
            </a:extLst>
          </p:cNvPr>
          <p:cNvPicPr>
            <a:picLocks noChangeAspect="1"/>
          </p:cNvPicPr>
          <p:nvPr/>
        </p:nvPicPr>
        <p:blipFill>
          <a:blip r:embed="rId2"/>
          <a:stretch>
            <a:fillRect/>
          </a:stretch>
        </p:blipFill>
        <p:spPr>
          <a:xfrm>
            <a:off x="785695" y="3128920"/>
            <a:ext cx="4450712" cy="589065"/>
          </a:xfrm>
          <a:prstGeom prst="rect">
            <a:avLst/>
          </a:prstGeom>
        </p:spPr>
      </p:pic>
      <p:pic>
        <p:nvPicPr>
          <p:cNvPr id="10" name="Picture 9">
            <a:extLst>
              <a:ext uri="{FF2B5EF4-FFF2-40B4-BE49-F238E27FC236}">
                <a16:creationId xmlns:a16="http://schemas.microsoft.com/office/drawing/2014/main" id="{67C2CDEC-4F0F-89D9-D80E-8705E0D094E9}"/>
              </a:ext>
            </a:extLst>
          </p:cNvPr>
          <p:cNvPicPr>
            <a:picLocks noChangeAspect="1"/>
          </p:cNvPicPr>
          <p:nvPr/>
        </p:nvPicPr>
        <p:blipFill>
          <a:blip r:embed="rId3"/>
          <a:stretch>
            <a:fillRect/>
          </a:stretch>
        </p:blipFill>
        <p:spPr>
          <a:xfrm>
            <a:off x="785695" y="4562492"/>
            <a:ext cx="4165867" cy="580277"/>
          </a:xfrm>
          <a:prstGeom prst="rect">
            <a:avLst/>
          </a:prstGeom>
        </p:spPr>
      </p:pic>
    </p:spTree>
    <p:extLst>
      <p:ext uri="{BB962C8B-B14F-4D97-AF65-F5344CB8AC3E}">
        <p14:creationId xmlns:p14="http://schemas.microsoft.com/office/powerpoint/2010/main" val="3718499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22838-3538-F833-C389-910AEFDA8B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4EF2F82-05F7-16BF-43F3-E8B8C8E91898}"/>
              </a:ext>
            </a:extLst>
          </p:cNvPr>
          <p:cNvSpPr>
            <a:spLocks noGrp="1"/>
          </p:cNvSpPr>
          <p:nvPr>
            <p:ph type="title" idx="4294967295"/>
          </p:nvPr>
        </p:nvSpPr>
        <p:spPr>
          <a:xfrm>
            <a:off x="668281" y="444381"/>
            <a:ext cx="10058400" cy="660590"/>
          </a:xfrm>
        </p:spPr>
        <p:txBody>
          <a:bodyPr>
            <a:normAutofit/>
          </a:bodyPr>
          <a:lstStyle/>
          <a:p>
            <a:r>
              <a:rPr lang="en-IN" sz="3000" b="1" dirty="0">
                <a:solidFill>
                  <a:schemeClr val="accent1"/>
                </a:solidFill>
                <a:latin typeface="Garamond" panose="02020404030301010803" pitchFamily="18" charset="0"/>
              </a:rPr>
              <a:t>Implementation </a:t>
            </a:r>
            <a:r>
              <a:rPr lang="en-US" sz="3000" b="1" dirty="0">
                <a:solidFill>
                  <a:schemeClr val="accent1"/>
                </a:solidFill>
                <a:latin typeface="Garamond" panose="02020404030301010803" pitchFamily="18" charset="0"/>
              </a:rPr>
              <a:t>Results</a:t>
            </a:r>
            <a:endParaRPr lang="en-IN" sz="3000" b="1" dirty="0">
              <a:solidFill>
                <a:schemeClr val="accent1"/>
              </a:solidFill>
              <a:latin typeface="Garamond" panose="02020404030301010803" pitchFamily="18" charset="0"/>
            </a:endParaRPr>
          </a:p>
        </p:txBody>
      </p:sp>
      <p:sp>
        <p:nvSpPr>
          <p:cNvPr id="5" name="TextBox 4">
            <a:extLst>
              <a:ext uri="{FF2B5EF4-FFF2-40B4-BE49-F238E27FC236}">
                <a16:creationId xmlns:a16="http://schemas.microsoft.com/office/drawing/2014/main" id="{EA402543-3450-7C07-2402-83B4AE19D667}"/>
              </a:ext>
            </a:extLst>
          </p:cNvPr>
          <p:cNvSpPr txBox="1"/>
          <p:nvPr/>
        </p:nvSpPr>
        <p:spPr>
          <a:xfrm>
            <a:off x="668281" y="1223642"/>
            <a:ext cx="10386558"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solidFill>
                  <a:srgbClr val="7030A0"/>
                </a:solidFill>
                <a:latin typeface="Garamond" panose="02020404030301010803" pitchFamily="18" charset="0"/>
              </a:rPr>
              <a:t>Per-class performance metrics of the proposed model</a:t>
            </a:r>
            <a:endParaRPr lang="en-US" altLang="en-US" b="1" dirty="0">
              <a:solidFill>
                <a:srgbClr val="7030A0"/>
              </a:solidFill>
              <a:latin typeface="Garamond" panose="02020404030301010803" pitchFamily="18" charset="0"/>
            </a:endParaRPr>
          </a:p>
        </p:txBody>
      </p:sp>
      <p:pic>
        <p:nvPicPr>
          <p:cNvPr id="6" name="Picture 5" descr="A screenshot of a computer&#10;&#10;Description automatically generated">
            <a:extLst>
              <a:ext uri="{FF2B5EF4-FFF2-40B4-BE49-F238E27FC236}">
                <a16:creationId xmlns:a16="http://schemas.microsoft.com/office/drawing/2014/main" id="{CE1471EB-8847-AF76-5404-0AB90134A2D6}"/>
              </a:ext>
            </a:extLst>
          </p:cNvPr>
          <p:cNvPicPr>
            <a:picLocks noChangeAspect="1"/>
          </p:cNvPicPr>
          <p:nvPr/>
        </p:nvPicPr>
        <p:blipFill>
          <a:blip r:embed="rId2">
            <a:extLst>
              <a:ext uri="{28A0092B-C50C-407E-A947-70E740481C1C}">
                <a14:useLocalDpi xmlns:a14="http://schemas.microsoft.com/office/drawing/2010/main" val="0"/>
              </a:ext>
            </a:extLst>
          </a:blip>
          <a:srcRect t="35065" b="36544"/>
          <a:stretch/>
        </p:blipFill>
        <p:spPr bwMode="auto">
          <a:xfrm>
            <a:off x="771025" y="4101882"/>
            <a:ext cx="5731510" cy="974785"/>
          </a:xfrm>
          <a:prstGeom prst="rect">
            <a:avLst/>
          </a:prstGeom>
          <a:noFill/>
          <a:ln>
            <a:noFill/>
          </a:ln>
        </p:spPr>
      </p:pic>
      <p:sp>
        <p:nvSpPr>
          <p:cNvPr id="10" name="TextBox 9">
            <a:extLst>
              <a:ext uri="{FF2B5EF4-FFF2-40B4-BE49-F238E27FC236}">
                <a16:creationId xmlns:a16="http://schemas.microsoft.com/office/drawing/2014/main" id="{88B3829E-A3FA-B13C-06BC-A858F4CB254C}"/>
              </a:ext>
            </a:extLst>
          </p:cNvPr>
          <p:cNvSpPr txBox="1"/>
          <p:nvPr/>
        </p:nvSpPr>
        <p:spPr>
          <a:xfrm>
            <a:off x="668281" y="1802293"/>
            <a:ext cx="6094562" cy="369332"/>
          </a:xfrm>
          <a:prstGeom prst="rect">
            <a:avLst/>
          </a:prstGeom>
          <a:noFill/>
        </p:spPr>
        <p:txBody>
          <a:bodyPr wrap="square">
            <a:spAutoFit/>
          </a:bodyPr>
          <a:lstStyle/>
          <a:p>
            <a:r>
              <a:rPr lang="en-IN" b="1" dirty="0">
                <a:latin typeface="Garamond" panose="02020404030301010803" pitchFamily="18" charset="0"/>
              </a:rPr>
              <a:t>Before class balancing:</a:t>
            </a:r>
          </a:p>
        </p:txBody>
      </p:sp>
      <p:sp>
        <p:nvSpPr>
          <p:cNvPr id="11" name="TextBox 10">
            <a:extLst>
              <a:ext uri="{FF2B5EF4-FFF2-40B4-BE49-F238E27FC236}">
                <a16:creationId xmlns:a16="http://schemas.microsoft.com/office/drawing/2014/main" id="{F735C29B-7349-4644-3902-D5EDB7EBA831}"/>
              </a:ext>
            </a:extLst>
          </p:cNvPr>
          <p:cNvSpPr txBox="1"/>
          <p:nvPr/>
        </p:nvSpPr>
        <p:spPr>
          <a:xfrm>
            <a:off x="668281" y="3692648"/>
            <a:ext cx="2834044" cy="369332"/>
          </a:xfrm>
          <a:prstGeom prst="rect">
            <a:avLst/>
          </a:prstGeom>
          <a:noFill/>
        </p:spPr>
        <p:txBody>
          <a:bodyPr wrap="square" rtlCol="0">
            <a:spAutoFit/>
          </a:bodyPr>
          <a:lstStyle/>
          <a:p>
            <a:r>
              <a:rPr lang="en-IN" b="1" dirty="0">
                <a:latin typeface="Garamond" panose="02020404030301010803" pitchFamily="18" charset="0"/>
              </a:rPr>
              <a:t>After class balancing:</a:t>
            </a:r>
          </a:p>
        </p:txBody>
      </p:sp>
      <p:pic>
        <p:nvPicPr>
          <p:cNvPr id="12" name="Picture 11">
            <a:extLst>
              <a:ext uri="{FF2B5EF4-FFF2-40B4-BE49-F238E27FC236}">
                <a16:creationId xmlns:a16="http://schemas.microsoft.com/office/drawing/2014/main" id="{60481D8A-1BA6-E166-2254-B3BF85CA6994}"/>
              </a:ext>
            </a:extLst>
          </p:cNvPr>
          <p:cNvPicPr>
            <a:picLocks noChangeAspect="1"/>
          </p:cNvPicPr>
          <p:nvPr/>
        </p:nvPicPr>
        <p:blipFill>
          <a:blip r:embed="rId3"/>
          <a:srcRect t="35166" b="36180"/>
          <a:stretch/>
        </p:blipFill>
        <p:spPr>
          <a:xfrm>
            <a:off x="771798" y="2190568"/>
            <a:ext cx="5730737" cy="974785"/>
          </a:xfrm>
          <a:prstGeom prst="rect">
            <a:avLst/>
          </a:prstGeom>
        </p:spPr>
      </p:pic>
    </p:spTree>
    <p:extLst>
      <p:ext uri="{BB962C8B-B14F-4D97-AF65-F5344CB8AC3E}">
        <p14:creationId xmlns:p14="http://schemas.microsoft.com/office/powerpoint/2010/main" val="107492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3D640-ADE2-9178-3A0A-7B05712A37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5F9849-6B81-9E5F-287D-4B4309A65336}"/>
              </a:ext>
            </a:extLst>
          </p:cNvPr>
          <p:cNvSpPr>
            <a:spLocks noGrp="1"/>
          </p:cNvSpPr>
          <p:nvPr>
            <p:ph type="title" idx="4294967295"/>
          </p:nvPr>
        </p:nvSpPr>
        <p:spPr>
          <a:xfrm>
            <a:off x="668281" y="444381"/>
            <a:ext cx="10058400" cy="660590"/>
          </a:xfrm>
        </p:spPr>
        <p:txBody>
          <a:bodyPr>
            <a:normAutofit/>
          </a:bodyPr>
          <a:lstStyle/>
          <a:p>
            <a:r>
              <a:rPr lang="en-US" sz="3000" b="1" dirty="0">
                <a:solidFill>
                  <a:schemeClr val="accent1"/>
                </a:solidFill>
                <a:latin typeface="Garamond" panose="02020404030301010803" pitchFamily="18" charset="0"/>
              </a:rPr>
              <a:t>Plots</a:t>
            </a:r>
            <a:endParaRPr lang="en-IN" sz="3000" b="1" dirty="0">
              <a:solidFill>
                <a:schemeClr val="accent1"/>
              </a:solidFill>
              <a:latin typeface="Garamond" panose="02020404030301010803" pitchFamily="18" charset="0"/>
            </a:endParaRPr>
          </a:p>
        </p:txBody>
      </p:sp>
      <p:sp>
        <p:nvSpPr>
          <p:cNvPr id="5" name="TextBox 4">
            <a:extLst>
              <a:ext uri="{FF2B5EF4-FFF2-40B4-BE49-F238E27FC236}">
                <a16:creationId xmlns:a16="http://schemas.microsoft.com/office/drawing/2014/main" id="{B7C5E799-FB50-FCF6-23FA-38B94C1D985C}"/>
              </a:ext>
            </a:extLst>
          </p:cNvPr>
          <p:cNvSpPr txBox="1"/>
          <p:nvPr/>
        </p:nvSpPr>
        <p:spPr>
          <a:xfrm>
            <a:off x="668281" y="1223642"/>
            <a:ext cx="10386558"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solidFill>
                  <a:srgbClr val="7030A0"/>
                </a:solidFill>
                <a:latin typeface="Garamond" panose="02020404030301010803" pitchFamily="18" charset="0"/>
              </a:rPr>
              <a:t>Discrete Wavelet Transform Denoising Output</a:t>
            </a:r>
            <a:endParaRPr lang="en-US" altLang="en-US" sz="2000" dirty="0">
              <a:solidFill>
                <a:srgbClr val="7030A0"/>
              </a:solidFill>
              <a:latin typeface="Garamond" panose="02020404030301010803" pitchFamily="18" charset="0"/>
            </a:endParaRPr>
          </a:p>
        </p:txBody>
      </p:sp>
      <p:pic>
        <p:nvPicPr>
          <p:cNvPr id="2" name="Picture 1">
            <a:extLst>
              <a:ext uri="{FF2B5EF4-FFF2-40B4-BE49-F238E27FC236}">
                <a16:creationId xmlns:a16="http://schemas.microsoft.com/office/drawing/2014/main" id="{F83F3CA8-EA97-4673-528E-167EA2D1D0D8}"/>
              </a:ext>
            </a:extLst>
          </p:cNvPr>
          <p:cNvPicPr>
            <a:picLocks noChangeAspect="1"/>
          </p:cNvPicPr>
          <p:nvPr/>
        </p:nvPicPr>
        <p:blipFill>
          <a:blip r:embed="rId2"/>
          <a:stretch>
            <a:fillRect/>
          </a:stretch>
        </p:blipFill>
        <p:spPr>
          <a:xfrm>
            <a:off x="967915" y="2180332"/>
            <a:ext cx="4369545" cy="2868894"/>
          </a:xfrm>
          <a:prstGeom prst="rect">
            <a:avLst/>
          </a:prstGeom>
        </p:spPr>
      </p:pic>
      <p:pic>
        <p:nvPicPr>
          <p:cNvPr id="3" name="Picture 2" descr="A blue line graph on a white background&#10;&#10;Description automatically generated">
            <a:extLst>
              <a:ext uri="{FF2B5EF4-FFF2-40B4-BE49-F238E27FC236}">
                <a16:creationId xmlns:a16="http://schemas.microsoft.com/office/drawing/2014/main" id="{7B66D9DE-A3D5-5F46-78D1-E8ADB0841D2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23365" y="2180332"/>
            <a:ext cx="4369546" cy="2852702"/>
          </a:xfrm>
          <a:prstGeom prst="rect">
            <a:avLst/>
          </a:prstGeom>
          <a:noFill/>
          <a:ln>
            <a:noFill/>
          </a:ln>
        </p:spPr>
      </p:pic>
      <p:sp>
        <p:nvSpPr>
          <p:cNvPr id="6" name="TextBox 5">
            <a:extLst>
              <a:ext uri="{FF2B5EF4-FFF2-40B4-BE49-F238E27FC236}">
                <a16:creationId xmlns:a16="http://schemas.microsoft.com/office/drawing/2014/main" id="{AEBBCB0F-56E5-04E8-EDA7-C48B8FA1E5C1}"/>
              </a:ext>
            </a:extLst>
          </p:cNvPr>
          <p:cNvSpPr txBox="1"/>
          <p:nvPr/>
        </p:nvSpPr>
        <p:spPr>
          <a:xfrm>
            <a:off x="2210497" y="5265026"/>
            <a:ext cx="2484407" cy="369332"/>
          </a:xfrm>
          <a:prstGeom prst="rect">
            <a:avLst/>
          </a:prstGeom>
          <a:noFill/>
        </p:spPr>
        <p:txBody>
          <a:bodyPr wrap="square" rtlCol="0">
            <a:spAutoFit/>
          </a:bodyPr>
          <a:lstStyle/>
          <a:p>
            <a:r>
              <a:rPr lang="en-IN" b="1" dirty="0">
                <a:latin typeface="Garamond" panose="02020404030301010803" pitchFamily="18" charset="0"/>
              </a:rPr>
              <a:t>Raw ECG Signal</a:t>
            </a:r>
          </a:p>
        </p:txBody>
      </p:sp>
      <p:sp>
        <p:nvSpPr>
          <p:cNvPr id="8" name="TextBox 7">
            <a:extLst>
              <a:ext uri="{FF2B5EF4-FFF2-40B4-BE49-F238E27FC236}">
                <a16:creationId xmlns:a16="http://schemas.microsoft.com/office/drawing/2014/main" id="{556D40C7-AD76-A4B7-EF10-64F9A2E3621B}"/>
              </a:ext>
            </a:extLst>
          </p:cNvPr>
          <p:cNvSpPr txBox="1"/>
          <p:nvPr/>
        </p:nvSpPr>
        <p:spPr>
          <a:xfrm>
            <a:off x="8266262" y="5220282"/>
            <a:ext cx="2058719" cy="369332"/>
          </a:xfrm>
          <a:prstGeom prst="rect">
            <a:avLst/>
          </a:prstGeom>
          <a:noFill/>
        </p:spPr>
        <p:txBody>
          <a:bodyPr wrap="square">
            <a:spAutoFit/>
          </a:bodyPr>
          <a:lstStyle/>
          <a:p>
            <a:r>
              <a:rPr lang="en-IN" b="1" dirty="0">
                <a:latin typeface="Garamond" panose="02020404030301010803" pitchFamily="18" charset="0"/>
              </a:rPr>
              <a:t>Denoised Signal</a:t>
            </a:r>
          </a:p>
        </p:txBody>
      </p:sp>
    </p:spTree>
    <p:extLst>
      <p:ext uri="{BB962C8B-B14F-4D97-AF65-F5344CB8AC3E}">
        <p14:creationId xmlns:p14="http://schemas.microsoft.com/office/powerpoint/2010/main" val="317055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22EAB-72EE-68ED-0A38-E4E1CBE782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75C26F-E447-C59B-D70D-E72BBEF1DB68}"/>
              </a:ext>
            </a:extLst>
          </p:cNvPr>
          <p:cNvSpPr>
            <a:spLocks noGrp="1"/>
          </p:cNvSpPr>
          <p:nvPr>
            <p:ph type="title" idx="4294967295"/>
          </p:nvPr>
        </p:nvSpPr>
        <p:spPr>
          <a:xfrm>
            <a:off x="668281" y="444381"/>
            <a:ext cx="10058400" cy="660590"/>
          </a:xfrm>
        </p:spPr>
        <p:txBody>
          <a:bodyPr>
            <a:normAutofit/>
          </a:bodyPr>
          <a:lstStyle/>
          <a:p>
            <a:r>
              <a:rPr lang="en-US" sz="3000" b="1" dirty="0">
                <a:solidFill>
                  <a:schemeClr val="accent1"/>
                </a:solidFill>
                <a:latin typeface="Garamond" panose="02020404030301010803" pitchFamily="18" charset="0"/>
              </a:rPr>
              <a:t>Plots</a:t>
            </a:r>
            <a:endParaRPr lang="en-IN" sz="3000" b="1" dirty="0">
              <a:solidFill>
                <a:schemeClr val="accent1"/>
              </a:solidFill>
              <a:latin typeface="Garamond" panose="02020404030301010803" pitchFamily="18" charset="0"/>
            </a:endParaRPr>
          </a:p>
        </p:txBody>
      </p:sp>
      <p:sp>
        <p:nvSpPr>
          <p:cNvPr id="5" name="TextBox 4">
            <a:extLst>
              <a:ext uri="{FF2B5EF4-FFF2-40B4-BE49-F238E27FC236}">
                <a16:creationId xmlns:a16="http://schemas.microsoft.com/office/drawing/2014/main" id="{A3B566A4-3176-BB25-B0E6-254C0E1D9AF8}"/>
              </a:ext>
            </a:extLst>
          </p:cNvPr>
          <p:cNvSpPr txBox="1"/>
          <p:nvPr/>
        </p:nvSpPr>
        <p:spPr>
          <a:xfrm>
            <a:off x="668281" y="1223642"/>
            <a:ext cx="10386558"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rgbClr val="7030A0"/>
                </a:solidFill>
                <a:latin typeface="Garamond" panose="02020404030301010803" pitchFamily="18" charset="0"/>
              </a:rPr>
              <a:t>Bandpassed signal</a:t>
            </a:r>
            <a:endParaRPr lang="en-US" altLang="en-US" dirty="0">
              <a:solidFill>
                <a:srgbClr val="7030A0"/>
              </a:solidFill>
              <a:latin typeface="Garamond" panose="02020404030301010803" pitchFamily="18" charset="0"/>
            </a:endParaRPr>
          </a:p>
        </p:txBody>
      </p:sp>
      <p:pic>
        <p:nvPicPr>
          <p:cNvPr id="4100" name="Picture 4">
            <a:extLst>
              <a:ext uri="{FF2B5EF4-FFF2-40B4-BE49-F238E27FC236}">
                <a16:creationId xmlns:a16="http://schemas.microsoft.com/office/drawing/2014/main" id="{CFE89F90-D2E4-DC10-C3D2-D38C002C9F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281" y="1623752"/>
            <a:ext cx="8260059" cy="19918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324974D-EC56-AF1A-F20D-D09A7B1439CE}"/>
              </a:ext>
            </a:extLst>
          </p:cNvPr>
          <p:cNvSpPr txBox="1"/>
          <p:nvPr/>
        </p:nvSpPr>
        <p:spPr>
          <a:xfrm>
            <a:off x="668281" y="3646409"/>
            <a:ext cx="609456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b="1" dirty="0">
                <a:solidFill>
                  <a:srgbClr val="7030A0"/>
                </a:solidFill>
                <a:latin typeface="Garamond" panose="02020404030301010803" pitchFamily="18" charset="0"/>
              </a:rPr>
              <a:t>Differentiated signal:</a:t>
            </a:r>
            <a:endParaRPr lang="en-US" altLang="en-US" sz="1800" dirty="0">
              <a:solidFill>
                <a:srgbClr val="7030A0"/>
              </a:solidFill>
              <a:latin typeface="Garamond" panose="02020404030301010803" pitchFamily="18" charset="0"/>
            </a:endParaRPr>
          </a:p>
        </p:txBody>
      </p:sp>
      <p:pic>
        <p:nvPicPr>
          <p:cNvPr id="8" name="Picture 7">
            <a:extLst>
              <a:ext uri="{FF2B5EF4-FFF2-40B4-BE49-F238E27FC236}">
                <a16:creationId xmlns:a16="http://schemas.microsoft.com/office/drawing/2014/main" id="{CD6CD455-59F9-C931-7599-D301D91C815A}"/>
              </a:ext>
            </a:extLst>
          </p:cNvPr>
          <p:cNvPicPr>
            <a:picLocks noChangeAspect="1"/>
          </p:cNvPicPr>
          <p:nvPr/>
        </p:nvPicPr>
        <p:blipFill>
          <a:blip r:embed="rId3"/>
          <a:stretch>
            <a:fillRect/>
          </a:stretch>
        </p:blipFill>
        <p:spPr>
          <a:xfrm>
            <a:off x="668281" y="4046519"/>
            <a:ext cx="8346323" cy="2024347"/>
          </a:xfrm>
          <a:prstGeom prst="rect">
            <a:avLst/>
          </a:prstGeom>
        </p:spPr>
      </p:pic>
    </p:spTree>
    <p:extLst>
      <p:ext uri="{BB962C8B-B14F-4D97-AF65-F5344CB8AC3E}">
        <p14:creationId xmlns:p14="http://schemas.microsoft.com/office/powerpoint/2010/main" val="3087242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48F44-E398-C529-02F8-B72B6E0C21E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3335F2-7F5A-AD8C-4158-9BDA21D090C1}"/>
              </a:ext>
            </a:extLst>
          </p:cNvPr>
          <p:cNvSpPr>
            <a:spLocks noGrp="1"/>
          </p:cNvSpPr>
          <p:nvPr>
            <p:ph type="title" idx="4294967295"/>
          </p:nvPr>
        </p:nvSpPr>
        <p:spPr>
          <a:xfrm>
            <a:off x="668281" y="444381"/>
            <a:ext cx="10058400" cy="660590"/>
          </a:xfrm>
        </p:spPr>
        <p:txBody>
          <a:bodyPr>
            <a:normAutofit/>
          </a:bodyPr>
          <a:lstStyle/>
          <a:p>
            <a:r>
              <a:rPr lang="en-US" sz="3000" b="1" dirty="0">
                <a:solidFill>
                  <a:schemeClr val="accent1"/>
                </a:solidFill>
                <a:latin typeface="Garamond" panose="02020404030301010803" pitchFamily="18" charset="0"/>
              </a:rPr>
              <a:t>Plots</a:t>
            </a:r>
            <a:endParaRPr lang="en-IN" sz="3000" b="1" dirty="0">
              <a:solidFill>
                <a:schemeClr val="accent1"/>
              </a:solidFill>
              <a:latin typeface="Garamond" panose="02020404030301010803" pitchFamily="18" charset="0"/>
            </a:endParaRPr>
          </a:p>
        </p:txBody>
      </p:sp>
      <p:sp>
        <p:nvSpPr>
          <p:cNvPr id="5" name="TextBox 4">
            <a:extLst>
              <a:ext uri="{FF2B5EF4-FFF2-40B4-BE49-F238E27FC236}">
                <a16:creationId xmlns:a16="http://schemas.microsoft.com/office/drawing/2014/main" id="{2147E549-B0BB-A05E-B7EE-62A3528CD814}"/>
              </a:ext>
            </a:extLst>
          </p:cNvPr>
          <p:cNvSpPr txBox="1"/>
          <p:nvPr/>
        </p:nvSpPr>
        <p:spPr>
          <a:xfrm>
            <a:off x="668281" y="1223642"/>
            <a:ext cx="10386558"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rgbClr val="7030A0"/>
                </a:solidFill>
                <a:latin typeface="Garamond" panose="02020404030301010803" pitchFamily="18" charset="0"/>
              </a:rPr>
              <a:t>Squared Signal:</a:t>
            </a:r>
            <a:endParaRPr lang="en-US" altLang="en-US" dirty="0">
              <a:solidFill>
                <a:srgbClr val="7030A0"/>
              </a:solidFill>
              <a:latin typeface="Garamond" panose="02020404030301010803" pitchFamily="18" charset="0"/>
            </a:endParaRPr>
          </a:p>
        </p:txBody>
      </p:sp>
      <p:pic>
        <p:nvPicPr>
          <p:cNvPr id="6146" name="Picture 2">
            <a:extLst>
              <a:ext uri="{FF2B5EF4-FFF2-40B4-BE49-F238E27FC236}">
                <a16:creationId xmlns:a16="http://schemas.microsoft.com/office/drawing/2014/main" id="{BC9F31AF-AF09-74F4-C7C9-1122190A3A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281" y="1711645"/>
            <a:ext cx="7820111" cy="19020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FA392CE-843C-3970-9564-5B4160BD6E9F}"/>
              </a:ext>
            </a:extLst>
          </p:cNvPr>
          <p:cNvSpPr txBox="1"/>
          <p:nvPr/>
        </p:nvSpPr>
        <p:spPr>
          <a:xfrm>
            <a:off x="668281" y="3732395"/>
            <a:ext cx="6094562"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rgbClr val="7030A0"/>
                </a:solidFill>
                <a:latin typeface="Garamond" panose="02020404030301010803" pitchFamily="18" charset="0"/>
              </a:rPr>
              <a:t>Moving Window Integrated Signal:</a:t>
            </a:r>
            <a:endParaRPr lang="en-US" altLang="en-US" dirty="0">
              <a:solidFill>
                <a:srgbClr val="7030A0"/>
              </a:solidFill>
              <a:latin typeface="Garamond" panose="02020404030301010803" pitchFamily="18" charset="0"/>
            </a:endParaRPr>
          </a:p>
        </p:txBody>
      </p:sp>
      <p:pic>
        <p:nvPicPr>
          <p:cNvPr id="8" name="Picture 2">
            <a:extLst>
              <a:ext uri="{FF2B5EF4-FFF2-40B4-BE49-F238E27FC236}">
                <a16:creationId xmlns:a16="http://schemas.microsoft.com/office/drawing/2014/main" id="{21F4BDD5-41CD-5C97-D0D9-873EF3B32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281" y="4220398"/>
            <a:ext cx="7940881" cy="1914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365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298B7-9E97-1FD6-DC88-28EAE3A617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8F55D4B-CD64-98E9-C03C-6F04A652877D}"/>
              </a:ext>
            </a:extLst>
          </p:cNvPr>
          <p:cNvSpPr>
            <a:spLocks noGrp="1"/>
          </p:cNvSpPr>
          <p:nvPr>
            <p:ph type="title" idx="4294967295"/>
          </p:nvPr>
        </p:nvSpPr>
        <p:spPr>
          <a:xfrm>
            <a:off x="668281" y="444381"/>
            <a:ext cx="10058400" cy="660590"/>
          </a:xfrm>
        </p:spPr>
        <p:txBody>
          <a:bodyPr>
            <a:normAutofit/>
          </a:bodyPr>
          <a:lstStyle/>
          <a:p>
            <a:r>
              <a:rPr lang="en-US" sz="3000" b="1" dirty="0">
                <a:solidFill>
                  <a:schemeClr val="accent1"/>
                </a:solidFill>
                <a:latin typeface="Garamond" panose="02020404030301010803" pitchFamily="18" charset="0"/>
              </a:rPr>
              <a:t>Plots</a:t>
            </a:r>
            <a:endParaRPr lang="en-IN" sz="3000" b="1" dirty="0">
              <a:solidFill>
                <a:schemeClr val="accent1"/>
              </a:solidFill>
              <a:latin typeface="Garamond" panose="02020404030301010803" pitchFamily="18" charset="0"/>
            </a:endParaRPr>
          </a:p>
        </p:txBody>
      </p:sp>
      <p:pic>
        <p:nvPicPr>
          <p:cNvPr id="2" name="Picture 1" descr="A screenshot of a graph&#10;&#10;Description automatically generated">
            <a:extLst>
              <a:ext uri="{FF2B5EF4-FFF2-40B4-BE49-F238E27FC236}">
                <a16:creationId xmlns:a16="http://schemas.microsoft.com/office/drawing/2014/main" id="{C420F01A-2328-1274-4EF9-AEFD1250E21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63409" y="1122996"/>
            <a:ext cx="5185368" cy="4720029"/>
          </a:xfrm>
          <a:prstGeom prst="rect">
            <a:avLst/>
          </a:prstGeom>
          <a:noFill/>
          <a:ln>
            <a:noFill/>
          </a:ln>
        </p:spPr>
      </p:pic>
    </p:spTree>
    <p:extLst>
      <p:ext uri="{BB962C8B-B14F-4D97-AF65-F5344CB8AC3E}">
        <p14:creationId xmlns:p14="http://schemas.microsoft.com/office/powerpoint/2010/main" val="3520464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F89F6-0B0E-57DA-6DBA-780024521F1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BEDB588-3C20-A12E-1439-BA918248FE34}"/>
              </a:ext>
            </a:extLst>
          </p:cNvPr>
          <p:cNvSpPr>
            <a:spLocks noGrp="1"/>
          </p:cNvSpPr>
          <p:nvPr>
            <p:ph type="title" idx="4294967295"/>
          </p:nvPr>
        </p:nvSpPr>
        <p:spPr>
          <a:xfrm>
            <a:off x="668281" y="444381"/>
            <a:ext cx="10058400" cy="660590"/>
          </a:xfrm>
        </p:spPr>
        <p:txBody>
          <a:bodyPr>
            <a:normAutofit/>
          </a:bodyPr>
          <a:lstStyle/>
          <a:p>
            <a:r>
              <a:rPr lang="en-US" sz="3000" b="1" dirty="0">
                <a:solidFill>
                  <a:schemeClr val="accent1"/>
                </a:solidFill>
                <a:latin typeface="Garamond" panose="02020404030301010803" pitchFamily="18" charset="0"/>
              </a:rPr>
              <a:t>Plots</a:t>
            </a:r>
            <a:endParaRPr lang="en-IN" sz="3000" b="1" dirty="0">
              <a:solidFill>
                <a:schemeClr val="accent1"/>
              </a:solidFill>
              <a:latin typeface="Garamond" panose="02020404030301010803" pitchFamily="18" charset="0"/>
            </a:endParaRPr>
          </a:p>
        </p:txBody>
      </p:sp>
      <p:pic>
        <p:nvPicPr>
          <p:cNvPr id="3" name="Picture 2" descr="A red and white rectangles&#10;&#10;Description automatically generated">
            <a:extLst>
              <a:ext uri="{FF2B5EF4-FFF2-40B4-BE49-F238E27FC236}">
                <a16:creationId xmlns:a16="http://schemas.microsoft.com/office/drawing/2014/main" id="{A1C3C8A3-7E9E-77BD-B344-1874F51B90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8347" y="2059520"/>
            <a:ext cx="3674674" cy="2357204"/>
          </a:xfrm>
          <a:prstGeom prst="rect">
            <a:avLst/>
          </a:prstGeom>
          <a:noFill/>
          <a:ln>
            <a:noFill/>
          </a:ln>
        </p:spPr>
      </p:pic>
      <p:sp>
        <p:nvSpPr>
          <p:cNvPr id="5" name="TextBox 4">
            <a:extLst>
              <a:ext uri="{FF2B5EF4-FFF2-40B4-BE49-F238E27FC236}">
                <a16:creationId xmlns:a16="http://schemas.microsoft.com/office/drawing/2014/main" id="{03F89436-D944-A9B0-D769-1235E36B3888}"/>
              </a:ext>
            </a:extLst>
          </p:cNvPr>
          <p:cNvSpPr txBox="1"/>
          <p:nvPr/>
        </p:nvSpPr>
        <p:spPr>
          <a:xfrm>
            <a:off x="569343" y="4543085"/>
            <a:ext cx="3354155" cy="646331"/>
          </a:xfrm>
          <a:prstGeom prst="rect">
            <a:avLst/>
          </a:prstGeom>
          <a:noFill/>
        </p:spPr>
        <p:txBody>
          <a:bodyPr wrap="square" rtlCol="0">
            <a:spAutoFit/>
          </a:bodyPr>
          <a:lstStyle/>
          <a:p>
            <a:r>
              <a:rPr lang="en-IN" dirty="0">
                <a:solidFill>
                  <a:srgbClr val="7030A0"/>
                </a:solidFill>
                <a:latin typeface="Garamond" panose="02020404030301010803" pitchFamily="18" charset="0"/>
              </a:rPr>
              <a:t>No. of samples per each class in dataset</a:t>
            </a:r>
          </a:p>
        </p:txBody>
      </p:sp>
      <p:pic>
        <p:nvPicPr>
          <p:cNvPr id="6" name="Picture 5">
            <a:extLst>
              <a:ext uri="{FF2B5EF4-FFF2-40B4-BE49-F238E27FC236}">
                <a16:creationId xmlns:a16="http://schemas.microsoft.com/office/drawing/2014/main" id="{4F6D7893-797C-3854-75CE-3B789CB07E7B}"/>
              </a:ext>
            </a:extLst>
          </p:cNvPr>
          <p:cNvPicPr>
            <a:picLocks noChangeAspect="1"/>
          </p:cNvPicPr>
          <p:nvPr/>
        </p:nvPicPr>
        <p:blipFill>
          <a:blip r:embed="rId3"/>
          <a:stretch>
            <a:fillRect/>
          </a:stretch>
        </p:blipFill>
        <p:spPr>
          <a:xfrm>
            <a:off x="4191189" y="2059520"/>
            <a:ext cx="3674673" cy="2357079"/>
          </a:xfrm>
          <a:prstGeom prst="rect">
            <a:avLst/>
          </a:prstGeom>
        </p:spPr>
      </p:pic>
      <p:sp>
        <p:nvSpPr>
          <p:cNvPr id="8" name="TextBox 7">
            <a:extLst>
              <a:ext uri="{FF2B5EF4-FFF2-40B4-BE49-F238E27FC236}">
                <a16:creationId xmlns:a16="http://schemas.microsoft.com/office/drawing/2014/main" id="{DA4418C0-72C7-8689-6D41-5D2DE94AD3A1}"/>
              </a:ext>
            </a:extLst>
          </p:cNvPr>
          <p:cNvSpPr txBox="1"/>
          <p:nvPr/>
        </p:nvSpPr>
        <p:spPr>
          <a:xfrm>
            <a:off x="4496605" y="4543084"/>
            <a:ext cx="3674673" cy="646331"/>
          </a:xfrm>
          <a:prstGeom prst="rect">
            <a:avLst/>
          </a:prstGeom>
          <a:noFill/>
        </p:spPr>
        <p:txBody>
          <a:bodyPr wrap="square">
            <a:spAutoFit/>
          </a:bodyPr>
          <a:lstStyle/>
          <a:p>
            <a:r>
              <a:rPr lang="en-IN" dirty="0">
                <a:solidFill>
                  <a:srgbClr val="7030A0"/>
                </a:solidFill>
                <a:latin typeface="Garamond" panose="02020404030301010803" pitchFamily="18" charset="0"/>
              </a:rPr>
              <a:t>No. of samples per each class in training set before class balancing</a:t>
            </a:r>
          </a:p>
        </p:txBody>
      </p:sp>
      <p:pic>
        <p:nvPicPr>
          <p:cNvPr id="9" name="Picture 8" descr="A graph of a bar chart&#10;&#10;Description automatically generated with medium confidence">
            <a:extLst>
              <a:ext uri="{FF2B5EF4-FFF2-40B4-BE49-F238E27FC236}">
                <a16:creationId xmlns:a16="http://schemas.microsoft.com/office/drawing/2014/main" id="{6397AADD-5D29-E9B1-394D-DA4F3D45F78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264030" y="2059520"/>
            <a:ext cx="3686894" cy="2357079"/>
          </a:xfrm>
          <a:prstGeom prst="rect">
            <a:avLst/>
          </a:prstGeom>
          <a:noFill/>
          <a:ln>
            <a:noFill/>
          </a:ln>
        </p:spPr>
      </p:pic>
      <p:sp>
        <p:nvSpPr>
          <p:cNvPr id="11" name="TextBox 10">
            <a:extLst>
              <a:ext uri="{FF2B5EF4-FFF2-40B4-BE49-F238E27FC236}">
                <a16:creationId xmlns:a16="http://schemas.microsoft.com/office/drawing/2014/main" id="{E57F6BA0-2C1A-8632-DC8B-A35930D82708}"/>
              </a:ext>
            </a:extLst>
          </p:cNvPr>
          <p:cNvSpPr txBox="1"/>
          <p:nvPr/>
        </p:nvSpPr>
        <p:spPr>
          <a:xfrm>
            <a:off x="8596769" y="4523146"/>
            <a:ext cx="3354155" cy="646331"/>
          </a:xfrm>
          <a:prstGeom prst="rect">
            <a:avLst/>
          </a:prstGeom>
          <a:noFill/>
        </p:spPr>
        <p:txBody>
          <a:bodyPr wrap="square">
            <a:spAutoFit/>
          </a:bodyPr>
          <a:lstStyle/>
          <a:p>
            <a:r>
              <a:rPr lang="en-IN" dirty="0">
                <a:solidFill>
                  <a:srgbClr val="7030A0"/>
                </a:solidFill>
                <a:latin typeface="Garamond" panose="02020404030301010803" pitchFamily="18" charset="0"/>
              </a:rPr>
              <a:t>No. of samples per each class in training set after class balancing</a:t>
            </a:r>
          </a:p>
        </p:txBody>
      </p:sp>
    </p:spTree>
    <p:extLst>
      <p:ext uri="{BB962C8B-B14F-4D97-AF65-F5344CB8AC3E}">
        <p14:creationId xmlns:p14="http://schemas.microsoft.com/office/powerpoint/2010/main" val="1504898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09467-17C5-F141-19EF-4B54908D73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C155CD8-251C-E3D7-3228-076AFE607A29}"/>
              </a:ext>
            </a:extLst>
          </p:cNvPr>
          <p:cNvSpPr>
            <a:spLocks noGrp="1"/>
          </p:cNvSpPr>
          <p:nvPr>
            <p:ph type="title" idx="4294967295"/>
          </p:nvPr>
        </p:nvSpPr>
        <p:spPr>
          <a:xfrm>
            <a:off x="668281" y="444381"/>
            <a:ext cx="10058400" cy="660590"/>
          </a:xfrm>
        </p:spPr>
        <p:txBody>
          <a:bodyPr>
            <a:normAutofit/>
          </a:bodyPr>
          <a:lstStyle/>
          <a:p>
            <a:r>
              <a:rPr lang="en-US" sz="3000" b="1" dirty="0">
                <a:solidFill>
                  <a:schemeClr val="accent1"/>
                </a:solidFill>
                <a:latin typeface="Garamond" panose="02020404030301010803" pitchFamily="18" charset="0"/>
              </a:rPr>
              <a:t>Plots</a:t>
            </a:r>
            <a:endParaRPr lang="en-IN" sz="3000" b="1" dirty="0">
              <a:solidFill>
                <a:schemeClr val="accent1"/>
              </a:solidFill>
              <a:latin typeface="Garamond" panose="02020404030301010803" pitchFamily="18" charset="0"/>
            </a:endParaRPr>
          </a:p>
        </p:txBody>
      </p:sp>
      <p:sp>
        <p:nvSpPr>
          <p:cNvPr id="5" name="TextBox 4">
            <a:extLst>
              <a:ext uri="{FF2B5EF4-FFF2-40B4-BE49-F238E27FC236}">
                <a16:creationId xmlns:a16="http://schemas.microsoft.com/office/drawing/2014/main" id="{B437A864-060F-D6BC-C355-AEA28457016B}"/>
              </a:ext>
            </a:extLst>
          </p:cNvPr>
          <p:cNvSpPr txBox="1"/>
          <p:nvPr/>
        </p:nvSpPr>
        <p:spPr>
          <a:xfrm>
            <a:off x="668281" y="1223642"/>
            <a:ext cx="10386558"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1" dirty="0">
                <a:solidFill>
                  <a:srgbClr val="7030A0"/>
                </a:solidFill>
                <a:latin typeface="Garamond" panose="02020404030301010803" pitchFamily="18" charset="0"/>
              </a:rPr>
              <a:t>Accuracy and Loss curves of the model during training for 30 epochs</a:t>
            </a:r>
            <a:endParaRPr lang="en-US" altLang="en-US" b="1" dirty="0">
              <a:solidFill>
                <a:srgbClr val="7030A0"/>
              </a:solidFill>
              <a:latin typeface="Garamond" panose="02020404030301010803" pitchFamily="18" charset="0"/>
            </a:endParaRPr>
          </a:p>
        </p:txBody>
      </p:sp>
      <p:pic>
        <p:nvPicPr>
          <p:cNvPr id="2" name="Picture 1" descr="A graph of a graph with numbers&#10;&#10;Description automatically generated with medium confidence">
            <a:extLst>
              <a:ext uri="{FF2B5EF4-FFF2-40B4-BE49-F238E27FC236}">
                <a16:creationId xmlns:a16="http://schemas.microsoft.com/office/drawing/2014/main" id="{FE48820A-117E-6F83-E231-CDDF8E1E63C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8281" y="2101880"/>
            <a:ext cx="4229100" cy="3171825"/>
          </a:xfrm>
          <a:prstGeom prst="rect">
            <a:avLst/>
          </a:prstGeom>
          <a:noFill/>
          <a:ln>
            <a:noFill/>
          </a:ln>
        </p:spPr>
      </p:pic>
      <p:pic>
        <p:nvPicPr>
          <p:cNvPr id="3" name="Picture 2" descr="A graph with blue and orange lines&#10;&#10;Description automatically generated">
            <a:extLst>
              <a:ext uri="{FF2B5EF4-FFF2-40B4-BE49-F238E27FC236}">
                <a16:creationId xmlns:a16="http://schemas.microsoft.com/office/drawing/2014/main" id="{39E5A959-5516-43FD-1EAA-C070D38F285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74191" y="2101880"/>
            <a:ext cx="4144329" cy="3108476"/>
          </a:xfrm>
          <a:prstGeom prst="rect">
            <a:avLst/>
          </a:prstGeom>
          <a:noFill/>
          <a:ln>
            <a:noFill/>
          </a:ln>
        </p:spPr>
      </p:pic>
    </p:spTree>
    <p:extLst>
      <p:ext uri="{BB962C8B-B14F-4D97-AF65-F5344CB8AC3E}">
        <p14:creationId xmlns:p14="http://schemas.microsoft.com/office/powerpoint/2010/main" val="3131485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F7380-8324-919B-980F-6BD715C38D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15D26B2-74CB-4BAD-02FE-EA95A112A65A}"/>
              </a:ext>
            </a:extLst>
          </p:cNvPr>
          <p:cNvSpPr>
            <a:spLocks noGrp="1"/>
          </p:cNvSpPr>
          <p:nvPr>
            <p:ph type="title" idx="4294967295"/>
          </p:nvPr>
        </p:nvSpPr>
        <p:spPr>
          <a:xfrm>
            <a:off x="668281" y="444381"/>
            <a:ext cx="10058400" cy="660590"/>
          </a:xfrm>
        </p:spPr>
        <p:txBody>
          <a:bodyPr>
            <a:normAutofit/>
          </a:bodyPr>
          <a:lstStyle/>
          <a:p>
            <a:r>
              <a:rPr lang="en-US" sz="3000" b="1" dirty="0">
                <a:solidFill>
                  <a:schemeClr val="accent1"/>
                </a:solidFill>
                <a:latin typeface="Garamond" panose="02020404030301010803" pitchFamily="18" charset="0"/>
              </a:rPr>
              <a:t>Confusion Matrix</a:t>
            </a:r>
            <a:endParaRPr lang="en-IN" sz="3000" b="1" dirty="0">
              <a:solidFill>
                <a:schemeClr val="accent1"/>
              </a:solidFill>
              <a:latin typeface="Garamond" panose="02020404030301010803" pitchFamily="18" charset="0"/>
            </a:endParaRPr>
          </a:p>
        </p:txBody>
      </p:sp>
      <p:sp>
        <p:nvSpPr>
          <p:cNvPr id="5" name="TextBox 4">
            <a:extLst>
              <a:ext uri="{FF2B5EF4-FFF2-40B4-BE49-F238E27FC236}">
                <a16:creationId xmlns:a16="http://schemas.microsoft.com/office/drawing/2014/main" id="{E77A587F-7737-F210-9B8C-D21C4CDF2A91}"/>
              </a:ext>
            </a:extLst>
          </p:cNvPr>
          <p:cNvSpPr txBox="1"/>
          <p:nvPr/>
        </p:nvSpPr>
        <p:spPr>
          <a:xfrm>
            <a:off x="556136" y="2792980"/>
            <a:ext cx="3560591" cy="76944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200" b="1" dirty="0">
                <a:solidFill>
                  <a:srgbClr val="7030A0"/>
                </a:solidFill>
                <a:latin typeface="Garamond" panose="02020404030301010803" pitchFamily="18" charset="0"/>
              </a:rPr>
              <a:t>Confusion matrix of the proposed model</a:t>
            </a:r>
            <a:endParaRPr lang="en-US" altLang="en-US" sz="2200" b="1" dirty="0">
              <a:solidFill>
                <a:srgbClr val="7030A0"/>
              </a:solidFill>
              <a:latin typeface="Garamond" panose="02020404030301010803" pitchFamily="18" charset="0"/>
            </a:endParaRPr>
          </a:p>
        </p:txBody>
      </p:sp>
      <p:pic>
        <p:nvPicPr>
          <p:cNvPr id="6" name="Picture 5">
            <a:extLst>
              <a:ext uri="{FF2B5EF4-FFF2-40B4-BE49-F238E27FC236}">
                <a16:creationId xmlns:a16="http://schemas.microsoft.com/office/drawing/2014/main" id="{75FF53C8-28B9-B9FF-8618-4EEF763BD808}"/>
              </a:ext>
            </a:extLst>
          </p:cNvPr>
          <p:cNvPicPr>
            <a:picLocks noChangeAspect="1"/>
          </p:cNvPicPr>
          <p:nvPr/>
        </p:nvPicPr>
        <p:blipFill>
          <a:blip r:embed="rId2"/>
          <a:stretch>
            <a:fillRect/>
          </a:stretch>
        </p:blipFill>
        <p:spPr>
          <a:xfrm>
            <a:off x="4782023" y="444381"/>
            <a:ext cx="5581290" cy="5581290"/>
          </a:xfrm>
          <a:prstGeom prst="rect">
            <a:avLst/>
          </a:prstGeom>
        </p:spPr>
      </p:pic>
    </p:spTree>
    <p:extLst>
      <p:ext uri="{BB962C8B-B14F-4D97-AF65-F5344CB8AC3E}">
        <p14:creationId xmlns:p14="http://schemas.microsoft.com/office/powerpoint/2010/main" val="732359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F6432-6037-161A-5F9E-7B14FAB723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3801AE1-7EFD-4953-2C72-EEF2D9EA13C9}"/>
              </a:ext>
            </a:extLst>
          </p:cNvPr>
          <p:cNvSpPr>
            <a:spLocks noGrp="1"/>
          </p:cNvSpPr>
          <p:nvPr>
            <p:ph type="title" idx="4294967295"/>
          </p:nvPr>
        </p:nvSpPr>
        <p:spPr>
          <a:xfrm>
            <a:off x="668281" y="444381"/>
            <a:ext cx="10058400" cy="660590"/>
          </a:xfrm>
        </p:spPr>
        <p:txBody>
          <a:bodyPr>
            <a:normAutofit/>
          </a:bodyPr>
          <a:lstStyle/>
          <a:p>
            <a:r>
              <a:rPr lang="en-US" sz="3000" b="1" dirty="0">
                <a:solidFill>
                  <a:schemeClr val="accent1"/>
                </a:solidFill>
                <a:latin typeface="Garamond" panose="02020404030301010803" pitchFamily="18" charset="0"/>
              </a:rPr>
              <a:t>Interpretation and Findings</a:t>
            </a:r>
            <a:endParaRPr lang="en-IN" sz="3000" b="1" dirty="0">
              <a:solidFill>
                <a:schemeClr val="accent1"/>
              </a:solidFill>
              <a:latin typeface="Garamond" panose="02020404030301010803" pitchFamily="18" charset="0"/>
            </a:endParaRPr>
          </a:p>
        </p:txBody>
      </p:sp>
      <p:sp>
        <p:nvSpPr>
          <p:cNvPr id="3" name="TextBox 2">
            <a:extLst>
              <a:ext uri="{FF2B5EF4-FFF2-40B4-BE49-F238E27FC236}">
                <a16:creationId xmlns:a16="http://schemas.microsoft.com/office/drawing/2014/main" id="{F08CB7EC-DAE8-9873-335D-E6EE9623027F}"/>
              </a:ext>
            </a:extLst>
          </p:cNvPr>
          <p:cNvSpPr txBox="1"/>
          <p:nvPr/>
        </p:nvSpPr>
        <p:spPr>
          <a:xfrm>
            <a:off x="668281" y="1293335"/>
            <a:ext cx="10813477" cy="1018227"/>
          </a:xfrm>
          <a:prstGeom prst="rect">
            <a:avLst/>
          </a:prstGeom>
          <a:noFill/>
        </p:spPr>
        <p:txBody>
          <a:bodyPr wrap="square">
            <a:spAutoFit/>
          </a:bodyPr>
          <a:lstStyle/>
          <a:p>
            <a:pPr>
              <a:spcAft>
                <a:spcPts val="500"/>
              </a:spcAft>
            </a:pPr>
            <a:r>
              <a:rPr lang="en-US" sz="2000" b="1" dirty="0">
                <a:solidFill>
                  <a:srgbClr val="7030A0"/>
                </a:solidFill>
                <a:latin typeface="Garamond" panose="02020404030301010803" pitchFamily="18" charset="0"/>
              </a:rPr>
              <a:t>Performance Comparison</a:t>
            </a:r>
          </a:p>
          <a:p>
            <a:r>
              <a:rPr lang="en-US" dirty="0">
                <a:latin typeface="Garamond" panose="02020404030301010803" pitchFamily="18" charset="0"/>
              </a:rPr>
              <a:t>The performance of both models is compared based on their </a:t>
            </a:r>
            <a:r>
              <a:rPr lang="en-US" b="1" dirty="0">
                <a:latin typeface="Garamond" panose="02020404030301010803" pitchFamily="18" charset="0"/>
              </a:rPr>
              <a:t>training accuracy</a:t>
            </a:r>
            <a:r>
              <a:rPr lang="en-US" dirty="0">
                <a:latin typeface="Garamond" panose="02020404030301010803" pitchFamily="18" charset="0"/>
              </a:rPr>
              <a:t>, </a:t>
            </a:r>
            <a:r>
              <a:rPr lang="en-US" b="1" dirty="0">
                <a:latin typeface="Garamond" panose="02020404030301010803" pitchFamily="18" charset="0"/>
              </a:rPr>
              <a:t>test accuracy</a:t>
            </a:r>
            <a:r>
              <a:rPr lang="en-US" dirty="0">
                <a:latin typeface="Garamond" panose="02020404030301010803" pitchFamily="18" charset="0"/>
              </a:rPr>
              <a:t>, </a:t>
            </a:r>
            <a:r>
              <a:rPr lang="en-US" b="1" dirty="0">
                <a:latin typeface="Garamond" panose="02020404030301010803" pitchFamily="18" charset="0"/>
              </a:rPr>
              <a:t>loss</a:t>
            </a:r>
            <a:r>
              <a:rPr lang="en-US" dirty="0">
                <a:latin typeface="Garamond" panose="02020404030301010803" pitchFamily="18" charset="0"/>
              </a:rPr>
              <a:t>, and other evaluation metrics. The following results were obtained:</a:t>
            </a:r>
          </a:p>
        </p:txBody>
      </p:sp>
      <p:pic>
        <p:nvPicPr>
          <p:cNvPr id="8" name="Picture 7">
            <a:extLst>
              <a:ext uri="{FF2B5EF4-FFF2-40B4-BE49-F238E27FC236}">
                <a16:creationId xmlns:a16="http://schemas.microsoft.com/office/drawing/2014/main" id="{4FC64F6C-93C6-402B-CD71-8032B83A8694}"/>
              </a:ext>
            </a:extLst>
          </p:cNvPr>
          <p:cNvPicPr>
            <a:picLocks noChangeAspect="1"/>
          </p:cNvPicPr>
          <p:nvPr/>
        </p:nvPicPr>
        <p:blipFill>
          <a:blip r:embed="rId2"/>
          <a:stretch>
            <a:fillRect/>
          </a:stretch>
        </p:blipFill>
        <p:spPr>
          <a:xfrm>
            <a:off x="2944372" y="2399366"/>
            <a:ext cx="5506218" cy="1800476"/>
          </a:xfrm>
          <a:prstGeom prst="rect">
            <a:avLst/>
          </a:prstGeom>
        </p:spPr>
      </p:pic>
      <p:sp>
        <p:nvSpPr>
          <p:cNvPr id="12" name="TextBox 11">
            <a:extLst>
              <a:ext uri="{FF2B5EF4-FFF2-40B4-BE49-F238E27FC236}">
                <a16:creationId xmlns:a16="http://schemas.microsoft.com/office/drawing/2014/main" id="{12847BD6-B9C5-7BDA-DC78-D319366CE38F}"/>
              </a:ext>
            </a:extLst>
          </p:cNvPr>
          <p:cNvSpPr txBox="1"/>
          <p:nvPr/>
        </p:nvSpPr>
        <p:spPr>
          <a:xfrm>
            <a:off x="668281" y="4322469"/>
            <a:ext cx="9322998" cy="1697901"/>
          </a:xfrm>
          <a:prstGeom prst="rect">
            <a:avLst/>
          </a:prstGeom>
          <a:noFill/>
        </p:spPr>
        <p:txBody>
          <a:bodyPr wrap="square">
            <a:spAutoFit/>
          </a:bodyPr>
          <a:lstStyle/>
          <a:p>
            <a:pPr marL="285750" indent="-285750">
              <a:spcAft>
                <a:spcPts val="1000"/>
              </a:spcAft>
              <a:buFont typeface="Arial" panose="020B0604020202020204" pitchFamily="34" charset="0"/>
              <a:buChar char="•"/>
            </a:pPr>
            <a:r>
              <a:rPr lang="en-US" sz="1600" dirty="0">
                <a:latin typeface="Garamond" panose="02020404030301010803" pitchFamily="18" charset="0"/>
              </a:rPr>
              <a:t>The addition of Gated convolutions and Bidirectional LSTM layers significantly improved the training accuracy and test accuracy, while the model performed slightly worse in terms of test loss compared to the simpler CNN-LSTM model.</a:t>
            </a:r>
          </a:p>
          <a:p>
            <a:pPr marL="285750" indent="-285750">
              <a:buFont typeface="Arial" panose="020B0604020202020204" pitchFamily="34" charset="0"/>
              <a:buChar char="•"/>
            </a:pPr>
            <a:r>
              <a:rPr lang="en-US" sz="1600" dirty="0">
                <a:latin typeface="Garamond" panose="02020404030301010803" pitchFamily="18" charset="0"/>
              </a:rPr>
              <a:t>The CNN-LSTM model achieved slightly lower training accuracy and test accuracy, but showed better test loss. This suggests that the simpler model might generalize better in certain cases, despite the proposed model being more accurate overall.</a:t>
            </a:r>
            <a:endParaRPr lang="en-IN" sz="1600" dirty="0">
              <a:latin typeface="Garamond" panose="02020404030301010803" pitchFamily="18" charset="0"/>
            </a:endParaRPr>
          </a:p>
        </p:txBody>
      </p:sp>
    </p:spTree>
    <p:extLst>
      <p:ext uri="{BB962C8B-B14F-4D97-AF65-F5344CB8AC3E}">
        <p14:creationId xmlns:p14="http://schemas.microsoft.com/office/powerpoint/2010/main" val="1703817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B82FED-A452-3D96-DCF8-B171B644CB14}"/>
              </a:ext>
            </a:extLst>
          </p:cNvPr>
          <p:cNvSpPr txBox="1"/>
          <p:nvPr/>
        </p:nvSpPr>
        <p:spPr>
          <a:xfrm>
            <a:off x="640870" y="506467"/>
            <a:ext cx="11255316" cy="5737468"/>
          </a:xfrm>
          <a:prstGeom prst="rect">
            <a:avLst/>
          </a:prstGeom>
          <a:noFill/>
        </p:spPr>
        <p:txBody>
          <a:bodyPr wrap="square">
            <a:spAutoFit/>
          </a:bodyPr>
          <a:lstStyle/>
          <a:p>
            <a:pPr>
              <a:spcAft>
                <a:spcPts val="700"/>
              </a:spcAft>
            </a:pPr>
            <a:r>
              <a:rPr lang="en-US" sz="1700" b="1" dirty="0">
                <a:solidFill>
                  <a:schemeClr val="accent1"/>
                </a:solidFill>
                <a:latin typeface="Garamond" panose="02020404030301010803" pitchFamily="18" charset="0"/>
              </a:rPr>
              <a:t>Per-Class Performance Analysis:</a:t>
            </a:r>
            <a:endParaRPr lang="en-US" sz="1700" dirty="0">
              <a:solidFill>
                <a:schemeClr val="accent1"/>
              </a:solidFill>
              <a:latin typeface="Garamond" panose="02020404030301010803" pitchFamily="18" charset="0"/>
            </a:endParaRPr>
          </a:p>
          <a:p>
            <a:r>
              <a:rPr lang="en-US" sz="1600" dirty="0">
                <a:latin typeface="Garamond" panose="02020404030301010803" pitchFamily="18" charset="0"/>
              </a:rPr>
              <a:t>The per-class accuracy matrix provided insights into how well the model classified each ECG class. The model performed well with common classes like </a:t>
            </a:r>
            <a:r>
              <a:rPr lang="en-US" sz="1600" b="1" dirty="0">
                <a:latin typeface="Garamond" panose="02020404030301010803" pitchFamily="18" charset="0"/>
              </a:rPr>
              <a:t>N</a:t>
            </a:r>
            <a:r>
              <a:rPr lang="en-US" sz="1600" dirty="0">
                <a:latin typeface="Garamond" panose="02020404030301010803" pitchFamily="18" charset="0"/>
              </a:rPr>
              <a:t> (Normal) and </a:t>
            </a:r>
            <a:r>
              <a:rPr lang="en-US" sz="1600" b="1" dirty="0">
                <a:latin typeface="Garamond" panose="02020404030301010803" pitchFamily="18" charset="0"/>
              </a:rPr>
              <a:t>V</a:t>
            </a:r>
            <a:r>
              <a:rPr lang="en-US" sz="1600" dirty="0">
                <a:latin typeface="Garamond" panose="02020404030301010803" pitchFamily="18" charset="0"/>
              </a:rPr>
              <a:t> (Ventricular), achieving high accuracy and F1 scores. However, it struggled with minority classes such as </a:t>
            </a:r>
            <a:r>
              <a:rPr lang="en-US" sz="1600" b="1" dirty="0">
                <a:latin typeface="Garamond" panose="02020404030301010803" pitchFamily="18" charset="0"/>
              </a:rPr>
              <a:t>S</a:t>
            </a:r>
            <a:r>
              <a:rPr lang="en-US" sz="1600" dirty="0">
                <a:latin typeface="Garamond" panose="02020404030301010803" pitchFamily="18" charset="0"/>
              </a:rPr>
              <a:t> (Supraventricular) and </a:t>
            </a:r>
            <a:r>
              <a:rPr lang="en-US" sz="1600" b="1" dirty="0">
                <a:latin typeface="Garamond" panose="02020404030301010803" pitchFamily="18" charset="0"/>
              </a:rPr>
              <a:t>F</a:t>
            </a:r>
            <a:r>
              <a:rPr lang="en-US" sz="1600" dirty="0">
                <a:latin typeface="Garamond" panose="02020404030301010803" pitchFamily="18" charset="0"/>
              </a:rPr>
              <a:t> (Fusion), showing lower accuracy and F1 scores due to their limited sample sizes.</a:t>
            </a:r>
          </a:p>
          <a:p>
            <a:pPr>
              <a:spcAft>
                <a:spcPts val="600"/>
              </a:spcAft>
            </a:pPr>
            <a:r>
              <a:rPr lang="en-US" sz="1600" dirty="0">
                <a:latin typeface="Garamond" panose="02020404030301010803" pitchFamily="18" charset="0"/>
              </a:rPr>
              <a:t>The model achieved the following per-class sensitivities and F1 scores:</a:t>
            </a:r>
          </a:p>
          <a:p>
            <a:pPr>
              <a:spcAft>
                <a:spcPts val="600"/>
              </a:spcAft>
            </a:pPr>
            <a:endParaRPr lang="en-US" sz="1700" b="1" dirty="0">
              <a:solidFill>
                <a:schemeClr val="accent1"/>
              </a:solidFill>
              <a:latin typeface="Garamond" panose="02020404030301010803" pitchFamily="18" charset="0"/>
            </a:endParaRPr>
          </a:p>
          <a:p>
            <a:pPr>
              <a:spcAft>
                <a:spcPts val="600"/>
              </a:spcAft>
            </a:pPr>
            <a:endParaRPr lang="en-US" sz="1700" b="1" dirty="0">
              <a:solidFill>
                <a:schemeClr val="accent1"/>
              </a:solidFill>
              <a:latin typeface="Garamond" panose="02020404030301010803" pitchFamily="18" charset="0"/>
            </a:endParaRPr>
          </a:p>
          <a:p>
            <a:pPr>
              <a:spcAft>
                <a:spcPts val="600"/>
              </a:spcAft>
            </a:pPr>
            <a:endParaRPr lang="en-US" sz="1700" b="1" dirty="0">
              <a:solidFill>
                <a:schemeClr val="accent1"/>
              </a:solidFill>
              <a:latin typeface="Garamond" panose="02020404030301010803" pitchFamily="18" charset="0"/>
            </a:endParaRPr>
          </a:p>
          <a:p>
            <a:pPr>
              <a:spcAft>
                <a:spcPts val="600"/>
              </a:spcAft>
            </a:pPr>
            <a:endParaRPr lang="en-US" sz="1700" b="1" dirty="0">
              <a:solidFill>
                <a:schemeClr val="accent1"/>
              </a:solidFill>
              <a:latin typeface="Garamond" panose="02020404030301010803" pitchFamily="18" charset="0"/>
            </a:endParaRPr>
          </a:p>
          <a:p>
            <a:pPr>
              <a:spcAft>
                <a:spcPts val="600"/>
              </a:spcAft>
            </a:pPr>
            <a:endParaRPr lang="en-US" sz="1700" b="1" dirty="0">
              <a:solidFill>
                <a:schemeClr val="accent1"/>
              </a:solidFill>
              <a:latin typeface="Garamond" panose="02020404030301010803" pitchFamily="18" charset="0"/>
            </a:endParaRPr>
          </a:p>
          <a:p>
            <a:pPr>
              <a:spcAft>
                <a:spcPts val="600"/>
              </a:spcAft>
            </a:pPr>
            <a:endParaRPr lang="en-US" sz="1700" b="1" dirty="0">
              <a:solidFill>
                <a:schemeClr val="accent1"/>
              </a:solidFill>
              <a:latin typeface="Garamond" panose="02020404030301010803" pitchFamily="18" charset="0"/>
            </a:endParaRPr>
          </a:p>
          <a:p>
            <a:pPr>
              <a:spcAft>
                <a:spcPts val="600"/>
              </a:spcAft>
            </a:pPr>
            <a:endParaRPr lang="en-US" sz="1600" b="1" dirty="0">
              <a:solidFill>
                <a:schemeClr val="accent1"/>
              </a:solidFill>
              <a:latin typeface="Garamond" panose="02020404030301010803" pitchFamily="18" charset="0"/>
            </a:endParaRPr>
          </a:p>
          <a:p>
            <a:pPr>
              <a:spcAft>
                <a:spcPts val="600"/>
              </a:spcAft>
            </a:pPr>
            <a:r>
              <a:rPr lang="en-US" sz="1700" b="1" dirty="0">
                <a:solidFill>
                  <a:schemeClr val="accent1"/>
                </a:solidFill>
                <a:latin typeface="Garamond" panose="02020404030301010803" pitchFamily="18" charset="0"/>
              </a:rPr>
              <a:t>Challenges with Minority Classes:</a:t>
            </a:r>
            <a:endParaRPr lang="en-US" sz="1700" dirty="0">
              <a:solidFill>
                <a:schemeClr val="accent1"/>
              </a:solidFill>
              <a:latin typeface="Garamond" panose="02020404030301010803" pitchFamily="18" charset="0"/>
            </a:endParaRPr>
          </a:p>
          <a:p>
            <a:r>
              <a:rPr lang="en-US" sz="1600" dirty="0">
                <a:latin typeface="Garamond" panose="02020404030301010803" pitchFamily="18" charset="0"/>
              </a:rPr>
              <a:t>Despite implementing class balancing techniques such as SMOTE to generate synthetic samples for the underrepresented classes, the model struggled with accurately classifying the S and F classes. This resulted in reduced sensitivity and F1 scores for these classes: 93% for S and 86.49% for F in terms of sensitivity, and F1 scores of 88.75% and 85.10%, respectively.</a:t>
            </a:r>
          </a:p>
          <a:p>
            <a:r>
              <a:rPr lang="en-US" sz="1600" dirty="0">
                <a:latin typeface="Garamond" panose="02020404030301010803" pitchFamily="18" charset="0"/>
              </a:rPr>
              <a:t>Even after balancing the classes, the model's bias towards the majority classes was not fully mitigated. The synthetic data generated for the F class did not fully capture the complex characteristics of F class beats, leading to poor generalization and reduced accuracy. This highlights the difficulty of dealing with imbalanced datasets, particularly when synthetic data fails to represent the complexity of rare instances.</a:t>
            </a:r>
          </a:p>
        </p:txBody>
      </p:sp>
      <p:graphicFrame>
        <p:nvGraphicFramePr>
          <p:cNvPr id="4" name="Table 3">
            <a:extLst>
              <a:ext uri="{FF2B5EF4-FFF2-40B4-BE49-F238E27FC236}">
                <a16:creationId xmlns:a16="http://schemas.microsoft.com/office/drawing/2014/main" id="{2D086DF8-CAE3-9F3F-7C22-8045DA061674}"/>
              </a:ext>
            </a:extLst>
          </p:cNvPr>
          <p:cNvGraphicFramePr>
            <a:graphicFrameLocks noGrp="1"/>
          </p:cNvGraphicFramePr>
          <p:nvPr>
            <p:extLst>
              <p:ext uri="{D42A27DB-BD31-4B8C-83A1-F6EECF244321}">
                <p14:modId xmlns:p14="http://schemas.microsoft.com/office/powerpoint/2010/main" val="2532159199"/>
              </p:ext>
            </p:extLst>
          </p:nvPr>
        </p:nvGraphicFramePr>
        <p:xfrm>
          <a:off x="744387" y="2094657"/>
          <a:ext cx="5014824" cy="1920240"/>
        </p:xfrm>
        <a:graphic>
          <a:graphicData uri="http://schemas.openxmlformats.org/drawingml/2006/table">
            <a:tbl>
              <a:tblPr firstRow="1" bandRow="1">
                <a:tableStyleId>{5C22544A-7EE6-4342-B048-85BDC9FD1C3A}</a:tableStyleId>
              </a:tblPr>
              <a:tblGrid>
                <a:gridCol w="1671608">
                  <a:extLst>
                    <a:ext uri="{9D8B030D-6E8A-4147-A177-3AD203B41FA5}">
                      <a16:colId xmlns:a16="http://schemas.microsoft.com/office/drawing/2014/main" val="4078109235"/>
                    </a:ext>
                  </a:extLst>
                </a:gridCol>
                <a:gridCol w="1671608">
                  <a:extLst>
                    <a:ext uri="{9D8B030D-6E8A-4147-A177-3AD203B41FA5}">
                      <a16:colId xmlns:a16="http://schemas.microsoft.com/office/drawing/2014/main" val="3016212228"/>
                    </a:ext>
                  </a:extLst>
                </a:gridCol>
                <a:gridCol w="1671608">
                  <a:extLst>
                    <a:ext uri="{9D8B030D-6E8A-4147-A177-3AD203B41FA5}">
                      <a16:colId xmlns:a16="http://schemas.microsoft.com/office/drawing/2014/main" val="931450831"/>
                    </a:ext>
                  </a:extLst>
                </a:gridCol>
              </a:tblGrid>
              <a:tr h="312814">
                <a:tc>
                  <a:txBody>
                    <a:bodyPr/>
                    <a:lstStyle/>
                    <a:p>
                      <a:r>
                        <a:rPr lang="en-IN" sz="1500" dirty="0">
                          <a:solidFill>
                            <a:schemeClr val="tx1"/>
                          </a:solidFill>
                          <a:latin typeface="Garamond" panose="02020404030301010803" pitchFamily="18" charset="0"/>
                        </a:rPr>
                        <a:t>Class</a:t>
                      </a:r>
                    </a:p>
                  </a:txBody>
                  <a:tcPr/>
                </a:tc>
                <a:tc>
                  <a:txBody>
                    <a:bodyPr/>
                    <a:lstStyle/>
                    <a:p>
                      <a:r>
                        <a:rPr lang="en-IN" sz="1500" dirty="0">
                          <a:solidFill>
                            <a:schemeClr val="tx1"/>
                          </a:solidFill>
                          <a:latin typeface="Garamond" panose="02020404030301010803" pitchFamily="18" charset="0"/>
                        </a:rPr>
                        <a:t>Sensitivity</a:t>
                      </a:r>
                    </a:p>
                  </a:txBody>
                  <a:tcPr/>
                </a:tc>
                <a:tc>
                  <a:txBody>
                    <a:bodyPr/>
                    <a:lstStyle/>
                    <a:p>
                      <a:r>
                        <a:rPr lang="en-IN" sz="1500" dirty="0">
                          <a:solidFill>
                            <a:schemeClr val="tx1"/>
                          </a:solidFill>
                          <a:latin typeface="Garamond" panose="02020404030301010803" pitchFamily="18" charset="0"/>
                        </a:rPr>
                        <a:t>F1 score</a:t>
                      </a:r>
                    </a:p>
                  </a:txBody>
                  <a:tcPr/>
                </a:tc>
                <a:extLst>
                  <a:ext uri="{0D108BD9-81ED-4DB2-BD59-A6C34878D82A}">
                    <a16:rowId xmlns:a16="http://schemas.microsoft.com/office/drawing/2014/main" val="2821483215"/>
                  </a:ext>
                </a:extLst>
              </a:tr>
              <a:tr h="312814">
                <a:tc>
                  <a:txBody>
                    <a:bodyPr/>
                    <a:lstStyle/>
                    <a:p>
                      <a:r>
                        <a:rPr lang="en-IN" sz="1500" dirty="0">
                          <a:solidFill>
                            <a:schemeClr val="tx1"/>
                          </a:solidFill>
                          <a:latin typeface="Garamond" panose="02020404030301010803" pitchFamily="18" charset="0"/>
                        </a:rPr>
                        <a:t>N</a:t>
                      </a:r>
                    </a:p>
                  </a:txBody>
                  <a:tcPr/>
                </a:tc>
                <a:tc>
                  <a:txBody>
                    <a:bodyPr/>
                    <a:lstStyle/>
                    <a:p>
                      <a:r>
                        <a:rPr lang="en-IN" sz="1500" dirty="0">
                          <a:solidFill>
                            <a:schemeClr val="tx1"/>
                          </a:solidFill>
                          <a:latin typeface="Garamond" panose="02020404030301010803" pitchFamily="18" charset="0"/>
                        </a:rPr>
                        <a:t>99.186</a:t>
                      </a:r>
                    </a:p>
                  </a:txBody>
                  <a:tcPr/>
                </a:tc>
                <a:tc>
                  <a:txBody>
                    <a:bodyPr/>
                    <a:lstStyle/>
                    <a:p>
                      <a:r>
                        <a:rPr lang="en-IN" sz="1500" dirty="0">
                          <a:solidFill>
                            <a:schemeClr val="tx1"/>
                          </a:solidFill>
                          <a:latin typeface="Garamond" panose="02020404030301010803" pitchFamily="18" charset="0"/>
                        </a:rPr>
                        <a:t>99.39</a:t>
                      </a:r>
                    </a:p>
                  </a:txBody>
                  <a:tcPr/>
                </a:tc>
                <a:extLst>
                  <a:ext uri="{0D108BD9-81ED-4DB2-BD59-A6C34878D82A}">
                    <a16:rowId xmlns:a16="http://schemas.microsoft.com/office/drawing/2014/main" val="1944282372"/>
                  </a:ext>
                </a:extLst>
              </a:tr>
              <a:tr h="312814">
                <a:tc>
                  <a:txBody>
                    <a:bodyPr/>
                    <a:lstStyle/>
                    <a:p>
                      <a:r>
                        <a:rPr lang="en-IN" sz="1500" dirty="0">
                          <a:solidFill>
                            <a:schemeClr val="tx1"/>
                          </a:solidFill>
                          <a:latin typeface="Garamond" panose="02020404030301010803" pitchFamily="18" charset="0"/>
                        </a:rPr>
                        <a:t>S</a:t>
                      </a:r>
                    </a:p>
                  </a:txBody>
                  <a:tcPr/>
                </a:tc>
                <a:tc>
                  <a:txBody>
                    <a:bodyPr/>
                    <a:lstStyle/>
                    <a:p>
                      <a:r>
                        <a:rPr lang="en-IN" sz="1500" dirty="0">
                          <a:solidFill>
                            <a:schemeClr val="tx1"/>
                          </a:solidFill>
                          <a:latin typeface="Garamond" panose="02020404030301010803" pitchFamily="18" charset="0"/>
                        </a:rPr>
                        <a:t>93.001</a:t>
                      </a:r>
                    </a:p>
                  </a:txBody>
                  <a:tcPr/>
                </a:tc>
                <a:tc>
                  <a:txBody>
                    <a:bodyPr/>
                    <a:lstStyle/>
                    <a:p>
                      <a:r>
                        <a:rPr lang="en-IN" sz="1500" dirty="0">
                          <a:solidFill>
                            <a:schemeClr val="tx1"/>
                          </a:solidFill>
                          <a:latin typeface="Garamond" panose="02020404030301010803" pitchFamily="18" charset="0"/>
                        </a:rPr>
                        <a:t>88.75</a:t>
                      </a:r>
                    </a:p>
                  </a:txBody>
                  <a:tcPr/>
                </a:tc>
                <a:extLst>
                  <a:ext uri="{0D108BD9-81ED-4DB2-BD59-A6C34878D82A}">
                    <a16:rowId xmlns:a16="http://schemas.microsoft.com/office/drawing/2014/main" val="3267962526"/>
                  </a:ext>
                </a:extLst>
              </a:tr>
              <a:tr h="312814">
                <a:tc>
                  <a:txBody>
                    <a:bodyPr/>
                    <a:lstStyle/>
                    <a:p>
                      <a:r>
                        <a:rPr lang="en-IN" sz="1500" dirty="0">
                          <a:solidFill>
                            <a:schemeClr val="tx1"/>
                          </a:solidFill>
                          <a:latin typeface="Garamond" panose="02020404030301010803" pitchFamily="18" charset="0"/>
                        </a:rPr>
                        <a:t>V</a:t>
                      </a:r>
                    </a:p>
                  </a:txBody>
                  <a:tcPr/>
                </a:tc>
                <a:tc>
                  <a:txBody>
                    <a:bodyPr/>
                    <a:lstStyle/>
                    <a:p>
                      <a:r>
                        <a:rPr lang="en-IN" sz="1500" dirty="0">
                          <a:solidFill>
                            <a:schemeClr val="tx1"/>
                          </a:solidFill>
                          <a:latin typeface="Garamond" panose="02020404030301010803" pitchFamily="18" charset="0"/>
                        </a:rPr>
                        <a:t>97.639</a:t>
                      </a:r>
                    </a:p>
                  </a:txBody>
                  <a:tcPr/>
                </a:tc>
                <a:tc>
                  <a:txBody>
                    <a:bodyPr/>
                    <a:lstStyle/>
                    <a:p>
                      <a:r>
                        <a:rPr lang="en-IN" sz="1500" dirty="0">
                          <a:solidFill>
                            <a:schemeClr val="tx1"/>
                          </a:solidFill>
                          <a:latin typeface="Garamond" panose="02020404030301010803" pitchFamily="18" charset="0"/>
                        </a:rPr>
                        <a:t>97.43</a:t>
                      </a:r>
                    </a:p>
                  </a:txBody>
                  <a:tcPr/>
                </a:tc>
                <a:extLst>
                  <a:ext uri="{0D108BD9-81ED-4DB2-BD59-A6C34878D82A}">
                    <a16:rowId xmlns:a16="http://schemas.microsoft.com/office/drawing/2014/main" val="2894066630"/>
                  </a:ext>
                </a:extLst>
              </a:tr>
              <a:tr h="312814">
                <a:tc>
                  <a:txBody>
                    <a:bodyPr/>
                    <a:lstStyle/>
                    <a:p>
                      <a:r>
                        <a:rPr lang="en-IN" sz="1500" dirty="0">
                          <a:solidFill>
                            <a:schemeClr val="tx1"/>
                          </a:solidFill>
                          <a:latin typeface="Garamond" panose="02020404030301010803" pitchFamily="18" charset="0"/>
                        </a:rPr>
                        <a:t>F</a:t>
                      </a:r>
                    </a:p>
                  </a:txBody>
                  <a:tcPr/>
                </a:tc>
                <a:tc>
                  <a:txBody>
                    <a:bodyPr/>
                    <a:lstStyle/>
                    <a:p>
                      <a:r>
                        <a:rPr lang="en-IN" sz="1500" dirty="0">
                          <a:solidFill>
                            <a:schemeClr val="tx1"/>
                          </a:solidFill>
                          <a:latin typeface="Garamond" panose="02020404030301010803" pitchFamily="18" charset="0"/>
                        </a:rPr>
                        <a:t>86.49</a:t>
                      </a:r>
                    </a:p>
                  </a:txBody>
                  <a:tcPr/>
                </a:tc>
                <a:tc>
                  <a:txBody>
                    <a:bodyPr/>
                    <a:lstStyle/>
                    <a:p>
                      <a:r>
                        <a:rPr lang="en-IN" sz="1500" dirty="0">
                          <a:solidFill>
                            <a:schemeClr val="tx1"/>
                          </a:solidFill>
                          <a:latin typeface="Garamond" panose="02020404030301010803" pitchFamily="18" charset="0"/>
                        </a:rPr>
                        <a:t>85.10</a:t>
                      </a:r>
                    </a:p>
                  </a:txBody>
                  <a:tcPr/>
                </a:tc>
                <a:extLst>
                  <a:ext uri="{0D108BD9-81ED-4DB2-BD59-A6C34878D82A}">
                    <a16:rowId xmlns:a16="http://schemas.microsoft.com/office/drawing/2014/main" val="2734539228"/>
                  </a:ext>
                </a:extLst>
              </a:tr>
              <a:tr h="312814">
                <a:tc>
                  <a:txBody>
                    <a:bodyPr/>
                    <a:lstStyle/>
                    <a:p>
                      <a:r>
                        <a:rPr lang="en-IN" sz="1500" dirty="0">
                          <a:solidFill>
                            <a:schemeClr val="tx1"/>
                          </a:solidFill>
                          <a:latin typeface="Garamond" panose="02020404030301010803" pitchFamily="18" charset="0"/>
                        </a:rPr>
                        <a:t>Q</a:t>
                      </a:r>
                    </a:p>
                  </a:txBody>
                  <a:tcPr/>
                </a:tc>
                <a:tc>
                  <a:txBody>
                    <a:bodyPr/>
                    <a:lstStyle/>
                    <a:p>
                      <a:r>
                        <a:rPr lang="en-IN" sz="1500" dirty="0">
                          <a:solidFill>
                            <a:schemeClr val="tx1"/>
                          </a:solidFill>
                          <a:latin typeface="Garamond" panose="02020404030301010803" pitchFamily="18" charset="0"/>
                        </a:rPr>
                        <a:t>99.76</a:t>
                      </a:r>
                    </a:p>
                  </a:txBody>
                  <a:tcPr/>
                </a:tc>
                <a:tc>
                  <a:txBody>
                    <a:bodyPr/>
                    <a:lstStyle/>
                    <a:p>
                      <a:r>
                        <a:rPr lang="en-IN" sz="1500" dirty="0">
                          <a:solidFill>
                            <a:schemeClr val="tx1"/>
                          </a:solidFill>
                          <a:latin typeface="Garamond" panose="02020404030301010803" pitchFamily="18" charset="0"/>
                        </a:rPr>
                        <a:t>99.35</a:t>
                      </a:r>
                    </a:p>
                  </a:txBody>
                  <a:tcPr/>
                </a:tc>
                <a:extLst>
                  <a:ext uri="{0D108BD9-81ED-4DB2-BD59-A6C34878D82A}">
                    <a16:rowId xmlns:a16="http://schemas.microsoft.com/office/drawing/2014/main" val="2055557923"/>
                  </a:ext>
                </a:extLst>
              </a:tr>
            </a:tbl>
          </a:graphicData>
        </a:graphic>
      </p:graphicFrame>
    </p:spTree>
    <p:extLst>
      <p:ext uri="{BB962C8B-B14F-4D97-AF65-F5344CB8AC3E}">
        <p14:creationId xmlns:p14="http://schemas.microsoft.com/office/powerpoint/2010/main" val="3649220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B8E79-576E-6DD5-5A3A-8F2708497A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AD448B-5DA5-4008-6EDA-0E9016E2500C}"/>
              </a:ext>
            </a:extLst>
          </p:cNvPr>
          <p:cNvSpPr txBox="1"/>
          <p:nvPr/>
        </p:nvSpPr>
        <p:spPr>
          <a:xfrm>
            <a:off x="640870" y="506467"/>
            <a:ext cx="11255316" cy="1402948"/>
          </a:xfrm>
          <a:prstGeom prst="rect">
            <a:avLst/>
          </a:prstGeom>
          <a:noFill/>
        </p:spPr>
        <p:txBody>
          <a:bodyPr wrap="square">
            <a:spAutoFit/>
          </a:bodyPr>
          <a:lstStyle/>
          <a:p>
            <a:pPr>
              <a:spcAft>
                <a:spcPts val="500"/>
              </a:spcAft>
            </a:pPr>
            <a:r>
              <a:rPr lang="en-US" sz="1600" b="1" dirty="0">
                <a:solidFill>
                  <a:schemeClr val="accent1"/>
                </a:solidFill>
                <a:latin typeface="Garamond" panose="02020404030301010803" pitchFamily="18" charset="0"/>
              </a:rPr>
              <a:t>Impact of SMOTE on Model Performance:</a:t>
            </a:r>
            <a:endParaRPr lang="en-US" sz="1600" dirty="0">
              <a:solidFill>
                <a:schemeClr val="accent1"/>
              </a:solidFill>
              <a:latin typeface="Garamond" panose="02020404030301010803" pitchFamily="18" charset="0"/>
            </a:endParaRPr>
          </a:p>
          <a:p>
            <a:r>
              <a:rPr lang="en-US" sz="1600" dirty="0">
                <a:latin typeface="Garamond" panose="02020404030301010803" pitchFamily="18" charset="0"/>
              </a:rPr>
              <a:t>To address the class imbalance in the MIT-BIH dataset, the SMOTE technique was applied to generate synthetic samples for the minority F class. This class balancing technique significantly improved the model’s performance, especially in classifying the minority class F.</a:t>
            </a:r>
          </a:p>
          <a:p>
            <a:r>
              <a:rPr lang="en-US" sz="1600" dirty="0">
                <a:latin typeface="Garamond" panose="02020404030301010803" pitchFamily="18" charset="0"/>
              </a:rPr>
              <a:t>The performance comparison between the model trained with and without class balancing is as follows:</a:t>
            </a:r>
          </a:p>
          <a:p>
            <a:pPr>
              <a:spcAft>
                <a:spcPts val="600"/>
              </a:spcAft>
            </a:pPr>
            <a:endParaRPr lang="en-US" sz="1700" b="1" dirty="0">
              <a:solidFill>
                <a:schemeClr val="accent1"/>
              </a:solidFill>
              <a:latin typeface="Garamond" panose="02020404030301010803" pitchFamily="18" charset="0"/>
            </a:endParaRPr>
          </a:p>
        </p:txBody>
      </p:sp>
      <p:pic>
        <p:nvPicPr>
          <p:cNvPr id="5" name="Picture 4">
            <a:extLst>
              <a:ext uri="{FF2B5EF4-FFF2-40B4-BE49-F238E27FC236}">
                <a16:creationId xmlns:a16="http://schemas.microsoft.com/office/drawing/2014/main" id="{90B1CED6-1863-7BA4-EC27-13C961205FCB}"/>
              </a:ext>
            </a:extLst>
          </p:cNvPr>
          <p:cNvPicPr>
            <a:picLocks noChangeAspect="1"/>
          </p:cNvPicPr>
          <p:nvPr/>
        </p:nvPicPr>
        <p:blipFill>
          <a:blip r:embed="rId2"/>
          <a:stretch>
            <a:fillRect/>
          </a:stretch>
        </p:blipFill>
        <p:spPr>
          <a:xfrm>
            <a:off x="727134" y="1737083"/>
            <a:ext cx="5268060" cy="1514686"/>
          </a:xfrm>
          <a:prstGeom prst="rect">
            <a:avLst/>
          </a:prstGeom>
        </p:spPr>
      </p:pic>
      <p:sp>
        <p:nvSpPr>
          <p:cNvPr id="6" name="TextBox 5">
            <a:extLst>
              <a:ext uri="{FF2B5EF4-FFF2-40B4-BE49-F238E27FC236}">
                <a16:creationId xmlns:a16="http://schemas.microsoft.com/office/drawing/2014/main" id="{4BF8FC12-F5E8-AD2D-3417-66F6502AE4FD}"/>
              </a:ext>
            </a:extLst>
          </p:cNvPr>
          <p:cNvSpPr txBox="1"/>
          <p:nvPr/>
        </p:nvSpPr>
        <p:spPr>
          <a:xfrm>
            <a:off x="640870" y="3574444"/>
            <a:ext cx="10530338" cy="1815882"/>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aramond" panose="02020404030301010803" pitchFamily="18" charset="0"/>
              </a:rPr>
              <a:t>Performance Before Class Balancing:</a:t>
            </a:r>
            <a:r>
              <a:rPr kumimoji="0" lang="en-US" altLang="en-US" sz="1600" b="0" i="0" u="none" strike="noStrike" cap="none" normalizeH="0" baseline="0" dirty="0">
                <a:ln>
                  <a:noFill/>
                </a:ln>
                <a:solidFill>
                  <a:schemeClr val="tx1"/>
                </a:solidFill>
                <a:effectLst/>
                <a:latin typeface="Garamond" panose="02020404030301010803" pitchFamily="18" charset="0"/>
              </a:rPr>
              <a:t> </a:t>
            </a:r>
            <a:r>
              <a:rPr kumimoji="0" lang="en-US" altLang="en-US" sz="1600" i="0" u="none" strike="noStrike" cap="none" normalizeH="0" baseline="0" dirty="0">
                <a:ln>
                  <a:noFill/>
                </a:ln>
                <a:solidFill>
                  <a:schemeClr val="tx1"/>
                </a:solidFill>
                <a:effectLst/>
                <a:latin typeface="Garamond" panose="02020404030301010803" pitchFamily="18" charset="0"/>
              </a:rPr>
              <a:t>The model showed reduced accuracy and F1 score in classifying the F class without handling the class imbalance. This reflected the model’s bias toward the majority classes and the challenge of predicting rare F class beats effectively.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Garamond" panose="02020404030301010803" pitchFamily="18" charset="0"/>
              </a:rPr>
              <a:t>Performance After Class Balancing:</a:t>
            </a:r>
            <a:r>
              <a:rPr kumimoji="0" lang="en-US" altLang="en-US" sz="1600" b="0" i="0" u="none" strike="noStrike" cap="none" normalizeH="0" baseline="0" dirty="0">
                <a:ln>
                  <a:noFill/>
                </a:ln>
                <a:solidFill>
                  <a:schemeClr val="tx1"/>
                </a:solidFill>
                <a:effectLst/>
                <a:latin typeface="Garamond" panose="02020404030301010803" pitchFamily="18" charset="0"/>
              </a:rPr>
              <a:t> </a:t>
            </a:r>
            <a:r>
              <a:rPr kumimoji="0" lang="en-US" altLang="en-US" sz="1600" i="0" u="none" strike="noStrike" cap="none" normalizeH="0" baseline="0" dirty="0">
                <a:ln>
                  <a:noFill/>
                </a:ln>
                <a:solidFill>
                  <a:schemeClr val="tx1"/>
                </a:solidFill>
                <a:effectLst/>
                <a:latin typeface="Garamond" panose="02020404030301010803" pitchFamily="18" charset="0"/>
              </a:rPr>
              <a:t>The application of SMOTE resulted in a significant improvement in both accuracy (99.77%) and F1 score (85.10%) for the F class. The balancing technique helped reduce the performance gap, highlighting the effectiveness of SMOTE in dealing with class imbalance.</a:t>
            </a:r>
          </a:p>
          <a:p>
            <a:pPr marL="285750" indent="-285750">
              <a:buFont typeface="Arial" panose="020B0604020202020204" pitchFamily="34" charset="0"/>
              <a:buChar char="•"/>
            </a:pPr>
            <a:endParaRPr lang="en-IN" sz="1600" dirty="0"/>
          </a:p>
        </p:txBody>
      </p:sp>
    </p:spTree>
    <p:extLst>
      <p:ext uri="{BB962C8B-B14F-4D97-AF65-F5344CB8AC3E}">
        <p14:creationId xmlns:p14="http://schemas.microsoft.com/office/powerpoint/2010/main" val="2732023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9401-8C32-63D1-4BE5-3207BB3FE1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A8535F-78C2-853B-B5DC-FB7071010F3D}"/>
              </a:ext>
            </a:extLst>
          </p:cNvPr>
          <p:cNvSpPr txBox="1"/>
          <p:nvPr/>
        </p:nvSpPr>
        <p:spPr>
          <a:xfrm>
            <a:off x="708057" y="634390"/>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Conclusion</a:t>
            </a:r>
            <a:endParaRPr lang="en-IN" sz="3000" b="1" dirty="0"/>
          </a:p>
        </p:txBody>
      </p:sp>
      <p:sp>
        <p:nvSpPr>
          <p:cNvPr id="5" name="TextBox 4">
            <a:extLst>
              <a:ext uri="{FF2B5EF4-FFF2-40B4-BE49-F238E27FC236}">
                <a16:creationId xmlns:a16="http://schemas.microsoft.com/office/drawing/2014/main" id="{FE500F05-C9A4-CAE0-192D-A003F1B14A43}"/>
              </a:ext>
            </a:extLst>
          </p:cNvPr>
          <p:cNvSpPr txBox="1"/>
          <p:nvPr/>
        </p:nvSpPr>
        <p:spPr>
          <a:xfrm>
            <a:off x="708057" y="1585203"/>
            <a:ext cx="10687438" cy="3375283"/>
          </a:xfrm>
          <a:prstGeom prst="rect">
            <a:avLst/>
          </a:prstGeom>
          <a:noFill/>
        </p:spPr>
        <p:txBody>
          <a:bodyPr wrap="square">
            <a:spAutoFit/>
          </a:bodyPr>
          <a:lstStyle/>
          <a:p>
            <a:pPr marL="285750" indent="-285750" algn="just">
              <a:spcAft>
                <a:spcPts val="1000"/>
              </a:spcAft>
              <a:buFont typeface="Arial" panose="020B0604020202020204" pitchFamily="34" charset="0"/>
              <a:buChar char="•"/>
            </a:pPr>
            <a:r>
              <a:rPr lang="en-US" sz="1800" dirty="0">
                <a:latin typeface="Garamond" panose="02020404030301010803" pitchFamily="18" charset="0"/>
              </a:rPr>
              <a:t>This project focused on developing a deep learning model for ECG arrhythmia detection using the MIT-BIH dataset.</a:t>
            </a:r>
          </a:p>
          <a:p>
            <a:pPr marL="285750" indent="-285750" algn="just">
              <a:spcAft>
                <a:spcPts val="1000"/>
              </a:spcAft>
              <a:buFont typeface="Arial" panose="020B0604020202020204" pitchFamily="34" charset="0"/>
              <a:buChar char="•"/>
            </a:pPr>
            <a:r>
              <a:rPr lang="en-US" sz="1800" dirty="0">
                <a:latin typeface="Garamond" panose="02020404030301010803" pitchFamily="18" charset="0"/>
              </a:rPr>
              <a:t>The model leveraged SMOTE for handling class imbalance and advanced CNN-LSTM architectures with gated convolutions to improve classification performance.</a:t>
            </a:r>
          </a:p>
          <a:p>
            <a:pPr marL="285750" indent="-285750" algn="just">
              <a:spcAft>
                <a:spcPts val="1000"/>
              </a:spcAft>
              <a:buFont typeface="Arial" panose="020B0604020202020204" pitchFamily="34" charset="0"/>
              <a:buChar char="•"/>
            </a:pPr>
            <a:r>
              <a:rPr lang="en-US" sz="1800" dirty="0">
                <a:latin typeface="Garamond" panose="02020404030301010803" pitchFamily="18" charset="0"/>
              </a:rPr>
              <a:t>The model achieved an overall high accuracy of 98.88% with CNN-BiLSTM with gated convolution, demonstrating its robustness in classifying common arrhythmia classes such as N and V.</a:t>
            </a:r>
          </a:p>
          <a:p>
            <a:pPr marL="285750" indent="-285750" algn="just">
              <a:spcAft>
                <a:spcPts val="1000"/>
              </a:spcAft>
              <a:buFont typeface="Arial" panose="020B0604020202020204" pitchFamily="34" charset="0"/>
              <a:buChar char="•"/>
            </a:pPr>
            <a:r>
              <a:rPr lang="en-US" sz="1800" dirty="0">
                <a:latin typeface="Garamond" panose="02020404030301010803" pitchFamily="18" charset="0"/>
              </a:rPr>
              <a:t>The minority class F showed lower performance due to the inherent challenges of class imbalance, despite the application of SMOTE to balance the dataset.</a:t>
            </a:r>
          </a:p>
          <a:p>
            <a:pPr marL="285750" indent="-285750" algn="just">
              <a:buFont typeface="Arial" panose="020B0604020202020204" pitchFamily="34" charset="0"/>
              <a:buChar char="•"/>
            </a:pPr>
            <a:r>
              <a:rPr lang="en-US" sz="1800" dirty="0">
                <a:latin typeface="Garamond" panose="02020404030301010803" pitchFamily="18" charset="0"/>
              </a:rPr>
              <a:t>The comparative performance of a CNN-LSTM model further validated the benefits of the gated convolution approach, where the CNN-BiLSTM with gated convolution outperformed the standard CNN-LSTM model.</a:t>
            </a:r>
          </a:p>
        </p:txBody>
      </p:sp>
    </p:spTree>
    <p:extLst>
      <p:ext uri="{BB962C8B-B14F-4D97-AF65-F5344CB8AC3E}">
        <p14:creationId xmlns:p14="http://schemas.microsoft.com/office/powerpoint/2010/main" val="34382724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40E5B-6499-C2AF-C262-0EF7C29974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E48A9D-7659-DB11-8C3F-0D46C959CE30}"/>
              </a:ext>
            </a:extLst>
          </p:cNvPr>
          <p:cNvSpPr txBox="1"/>
          <p:nvPr/>
        </p:nvSpPr>
        <p:spPr>
          <a:xfrm>
            <a:off x="708057" y="634390"/>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Future Scope</a:t>
            </a:r>
            <a:endParaRPr lang="en-IN" sz="3000" b="1" dirty="0"/>
          </a:p>
        </p:txBody>
      </p:sp>
      <p:sp>
        <p:nvSpPr>
          <p:cNvPr id="5" name="TextBox 4">
            <a:extLst>
              <a:ext uri="{FF2B5EF4-FFF2-40B4-BE49-F238E27FC236}">
                <a16:creationId xmlns:a16="http://schemas.microsoft.com/office/drawing/2014/main" id="{5D36408E-2967-0EB7-0C4F-7FAD55C0E1A4}"/>
              </a:ext>
            </a:extLst>
          </p:cNvPr>
          <p:cNvSpPr txBox="1"/>
          <p:nvPr/>
        </p:nvSpPr>
        <p:spPr>
          <a:xfrm>
            <a:off x="708057" y="1585203"/>
            <a:ext cx="10687438" cy="3762568"/>
          </a:xfrm>
          <a:prstGeom prst="rect">
            <a:avLst/>
          </a:prstGeom>
          <a:noFill/>
        </p:spPr>
        <p:txBody>
          <a:bodyPr wrap="square">
            <a:spAutoFit/>
          </a:bodyPr>
          <a:lstStyle/>
          <a:p>
            <a:pPr marL="285750" marR="0" lvl="0" indent="-285750" algn="just" defTabSz="914400" rtl="0" eaLnBrk="0" fontAlgn="base" latinLnBrk="0" hangingPunct="0">
              <a:lnSpc>
                <a:spcPct val="100000"/>
              </a:lnSpc>
              <a:spcBef>
                <a:spcPct val="0"/>
              </a:spcBef>
              <a:spcAft>
                <a:spcPts val="700"/>
              </a:spcAft>
              <a:buClrTx/>
              <a:buSzTx/>
              <a:buFont typeface="Arial" panose="020B0604020202020204" pitchFamily="34" charset="0"/>
              <a:buChar char="•"/>
              <a:tabLst/>
            </a:pPr>
            <a:r>
              <a:rPr lang="en-US" sz="1700" dirty="0">
                <a:latin typeface="Garamond" panose="02020404030301010803" pitchFamily="18" charset="0"/>
              </a:rPr>
              <a:t>Future work could explore more advanced architectures like Transformers, Attention Mechanisms, or Graph Neural Networks to handle long-range dependencies and improve classification, especially for challenging arrhythmias. While more computationally complex, these models could enhance performance and generalization, particularly with multi-lead ECG data.</a:t>
            </a:r>
            <a:endParaRPr kumimoji="0" lang="en-US" altLang="en-US" sz="1700" i="0" u="none" strike="noStrike" cap="none" normalizeH="0" baseline="0" dirty="0">
              <a:ln>
                <a:noFill/>
              </a:ln>
              <a:solidFill>
                <a:schemeClr val="tx1"/>
              </a:solidFill>
              <a:effectLst/>
              <a:latin typeface="Garamond" panose="02020404030301010803" pitchFamily="18" charset="0"/>
            </a:endParaRPr>
          </a:p>
          <a:p>
            <a:pPr marL="285750" marR="0" lvl="0" indent="-285750" algn="just" defTabSz="914400" rtl="0" eaLnBrk="0" fontAlgn="base" latinLnBrk="0" hangingPunct="0">
              <a:lnSpc>
                <a:spcPct val="100000"/>
              </a:lnSpc>
              <a:spcBef>
                <a:spcPct val="0"/>
              </a:spcBef>
              <a:spcAft>
                <a:spcPts val="700"/>
              </a:spcAft>
              <a:buClrTx/>
              <a:buSzTx/>
              <a:buFont typeface="Arial" panose="020B0604020202020204" pitchFamily="34" charset="0"/>
              <a:buChar char="•"/>
              <a:tabLst/>
            </a:pPr>
            <a:r>
              <a:rPr kumimoji="0" lang="en-US" altLang="en-US" sz="1700" i="0" u="none" strike="noStrike" cap="none" normalizeH="0" baseline="0" dirty="0">
                <a:ln>
                  <a:noFill/>
                </a:ln>
                <a:solidFill>
                  <a:schemeClr val="tx1"/>
                </a:solidFill>
                <a:effectLst/>
                <a:latin typeface="Garamond" panose="02020404030301010803" pitchFamily="18" charset="0"/>
              </a:rPr>
              <a:t>Exploring multimodal learning approaches, where additional data sources are combined with ECG signals, can provide richer context for better classification performance, leading to more accurate and comprehensive cardiovascular disease detection.</a:t>
            </a:r>
          </a:p>
          <a:p>
            <a:pPr marL="285750" marR="0" lvl="0" indent="-285750" algn="just" defTabSz="914400" rtl="0" eaLnBrk="0" fontAlgn="base" latinLnBrk="0" hangingPunct="0">
              <a:lnSpc>
                <a:spcPct val="100000"/>
              </a:lnSpc>
              <a:spcBef>
                <a:spcPct val="0"/>
              </a:spcBef>
              <a:spcAft>
                <a:spcPts val="700"/>
              </a:spcAft>
              <a:buClrTx/>
              <a:buSzTx/>
              <a:buFont typeface="Arial" panose="020B0604020202020204" pitchFamily="34" charset="0"/>
              <a:buChar char="•"/>
              <a:tabLst/>
            </a:pPr>
            <a:r>
              <a:rPr kumimoji="0" lang="en-US" altLang="en-US" sz="1700" i="0" u="none" strike="noStrike" cap="none" normalizeH="0" baseline="0" dirty="0">
                <a:ln>
                  <a:noFill/>
                </a:ln>
                <a:solidFill>
                  <a:schemeClr val="tx1"/>
                </a:solidFill>
                <a:effectLst/>
                <a:latin typeface="Garamond" panose="02020404030301010803" pitchFamily="18" charset="0"/>
              </a:rPr>
              <a:t>The use of multi-lead ECG data instead of the 2-lead setup used in this study can capture more comprehensive cardiac information, which could help extract more crucial features and improve the accuracy of arrhythmia detection. Using multi-lead data can potentially detect subtle patterns that may be missed with a single-lead ECG.</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700" dirty="0">
                <a:latin typeface="Garamond" panose="02020404030301010803" pitchFamily="18" charset="0"/>
              </a:rPr>
              <a:t>Addressing Class Imbalance More Effectively: Further refinement of class balancing techniques, such as using Generative Adversarial Networks (GANs) for data augmentation, could improve classification performance especially for minority classes</a:t>
            </a:r>
            <a:endParaRPr kumimoji="0" lang="en-US" altLang="en-US" sz="1700" i="0" u="none" strike="noStrike" cap="none" normalizeH="0" baseline="0" dirty="0">
              <a:ln>
                <a:noFill/>
              </a:ln>
              <a:solidFill>
                <a:schemeClr val="tx1"/>
              </a:solidFill>
              <a:effectLst/>
              <a:latin typeface="Garamond" panose="02020404030301010803" pitchFamily="18" charset="0"/>
            </a:endParaRPr>
          </a:p>
        </p:txBody>
      </p:sp>
    </p:spTree>
    <p:extLst>
      <p:ext uri="{BB962C8B-B14F-4D97-AF65-F5344CB8AC3E}">
        <p14:creationId xmlns:p14="http://schemas.microsoft.com/office/powerpoint/2010/main" val="697903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93ED1-8DF8-46B4-9918-7891C4634D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14B7BA-B008-5F43-DB2D-ACF5A064175B}"/>
              </a:ext>
            </a:extLst>
          </p:cNvPr>
          <p:cNvSpPr txBox="1"/>
          <p:nvPr/>
        </p:nvSpPr>
        <p:spPr>
          <a:xfrm>
            <a:off x="708057" y="634390"/>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Outcomes</a:t>
            </a:r>
            <a:endParaRPr lang="en-IN" sz="3000" b="1" dirty="0"/>
          </a:p>
        </p:txBody>
      </p:sp>
      <p:sp>
        <p:nvSpPr>
          <p:cNvPr id="9" name="Rectangle 5">
            <a:extLst>
              <a:ext uri="{FF2B5EF4-FFF2-40B4-BE49-F238E27FC236}">
                <a16:creationId xmlns:a16="http://schemas.microsoft.com/office/drawing/2014/main" id="{3831242B-0E91-0668-03E3-D8F0EEF7B895}"/>
              </a:ext>
            </a:extLst>
          </p:cNvPr>
          <p:cNvSpPr>
            <a:spLocks noChangeArrowheads="1"/>
          </p:cNvSpPr>
          <p:nvPr/>
        </p:nvSpPr>
        <p:spPr bwMode="auto">
          <a:xfrm>
            <a:off x="708057" y="1395877"/>
            <a:ext cx="11023868" cy="3342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Garamond" panose="02020404030301010803" pitchFamily="18" charset="0"/>
              </a:rPr>
              <a:t>Developed a deep learning-based ECG arrhythmia detection system using CNN-BiLSTM with gated convolutions.</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Garamond" panose="02020404030301010803" pitchFamily="18" charset="0"/>
              </a:rPr>
              <a:t>Achieved high training accuracy (99.81%) and test accuracy (98.88%).</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Garamond" panose="02020404030301010803" pitchFamily="18" charset="0"/>
              </a:rPr>
              <a:t>Utilized SMOTE to address class imbalance, improving the classification of minority classes like F.</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Garamond" panose="02020404030301010803" pitchFamily="18" charset="0"/>
              </a:rPr>
              <a:t>Improved the F1 score of the F class from 78.41% to 85.10% with class balancing.</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Garamond" panose="02020404030301010803" pitchFamily="18" charset="0"/>
              </a:rPr>
              <a:t>Compared performance with a CNN-LSTM model, demonstrating the superiority of the CNN-BiLSTM model.</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Garamond" panose="02020404030301010803" pitchFamily="18" charset="0"/>
              </a:rPr>
              <a:t>The model shows potential for accurate and early detection of cardiovascular diseases. </a:t>
            </a:r>
          </a:p>
        </p:txBody>
      </p:sp>
    </p:spTree>
    <p:extLst>
      <p:ext uri="{BB962C8B-B14F-4D97-AF65-F5344CB8AC3E}">
        <p14:creationId xmlns:p14="http://schemas.microsoft.com/office/powerpoint/2010/main" val="3322281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3F12E-EB69-EF6B-E329-6D438E6FD84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62BDEF-7E32-54FE-6B34-FCFE3CCAFC65}"/>
              </a:ext>
            </a:extLst>
          </p:cNvPr>
          <p:cNvSpPr txBox="1"/>
          <p:nvPr/>
        </p:nvSpPr>
        <p:spPr>
          <a:xfrm>
            <a:off x="708057" y="276854"/>
            <a:ext cx="10418652" cy="553998"/>
          </a:xfrm>
          <a:prstGeom prst="rect">
            <a:avLst/>
          </a:prstGeom>
          <a:noFill/>
        </p:spPr>
        <p:txBody>
          <a:bodyPr wrap="square">
            <a:spAutoFit/>
          </a:bodyPr>
          <a:lstStyle/>
          <a:p>
            <a:r>
              <a:rPr lang="en-IN" sz="3000" b="1" dirty="0">
                <a:solidFill>
                  <a:schemeClr val="accent1"/>
                </a:solidFill>
                <a:latin typeface="Garamond" panose="02020404030301010803" pitchFamily="18" charset="0"/>
              </a:rPr>
              <a:t>References</a:t>
            </a:r>
            <a:endParaRPr lang="en-IN" sz="3000" b="1" dirty="0"/>
          </a:p>
        </p:txBody>
      </p:sp>
      <p:sp>
        <p:nvSpPr>
          <p:cNvPr id="9" name="Rectangle 5">
            <a:extLst>
              <a:ext uri="{FF2B5EF4-FFF2-40B4-BE49-F238E27FC236}">
                <a16:creationId xmlns:a16="http://schemas.microsoft.com/office/drawing/2014/main" id="{391DDB31-7B1D-6A95-3997-5D251D8E08BF}"/>
              </a:ext>
            </a:extLst>
          </p:cNvPr>
          <p:cNvSpPr>
            <a:spLocks noChangeArrowheads="1"/>
          </p:cNvSpPr>
          <p:nvPr/>
        </p:nvSpPr>
        <p:spPr bwMode="auto">
          <a:xfrm>
            <a:off x="708057" y="934369"/>
            <a:ext cx="11023868" cy="536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911225" lvl="0" indent="-342900">
              <a:lnSpc>
                <a:spcPct val="112000"/>
              </a:lnSpc>
              <a:spcBef>
                <a:spcPts val="895"/>
              </a:spcBef>
              <a:buSzPts val="1100"/>
              <a:buFont typeface="+mj-lt"/>
              <a:buAutoNum type="arabicPeriod"/>
              <a:tabLst>
                <a:tab pos="589280" algn="l"/>
              </a:tabLst>
            </a:pPr>
            <a:r>
              <a:rPr lang="en-US" sz="1200" dirty="0" err="1">
                <a:latin typeface="Times New Roman" panose="02020603050405020304" pitchFamily="18" charset="0"/>
                <a:cs typeface="Times New Roman" panose="02020603050405020304" pitchFamily="18" charset="0"/>
              </a:rPr>
              <a:t>Daydulo</a:t>
            </a:r>
            <a:r>
              <a:rPr lang="en-US" sz="1200" dirty="0">
                <a:latin typeface="Times New Roman" panose="02020603050405020304" pitchFamily="18" charset="0"/>
                <a:cs typeface="Times New Roman" panose="02020603050405020304" pitchFamily="18" charset="0"/>
              </a:rPr>
              <a:t>, Y.D., </a:t>
            </a:r>
            <a:r>
              <a:rPr lang="en-US" sz="1200" dirty="0" err="1">
                <a:latin typeface="Times New Roman" panose="02020603050405020304" pitchFamily="18" charset="0"/>
                <a:cs typeface="Times New Roman" panose="02020603050405020304" pitchFamily="18" charset="0"/>
              </a:rPr>
              <a:t>Thamineni</a:t>
            </a:r>
            <a:r>
              <a:rPr lang="en-US" sz="1200" dirty="0">
                <a:latin typeface="Times New Roman" panose="02020603050405020304" pitchFamily="18" charset="0"/>
                <a:cs typeface="Times New Roman" panose="02020603050405020304" pitchFamily="18" charset="0"/>
              </a:rPr>
              <a:t>, B.L. &amp; Dawud, A.A. Cardiac arrhythmia detection using deep learning approach and time frequency representation of ECG signals. BMC Med Inform </a:t>
            </a:r>
            <a:r>
              <a:rPr lang="en-US" sz="1200" dirty="0" err="1">
                <a:latin typeface="Times New Roman" panose="02020603050405020304" pitchFamily="18" charset="0"/>
                <a:cs typeface="Times New Roman" panose="02020603050405020304" pitchFamily="18" charset="0"/>
              </a:rPr>
              <a:t>Decis</a:t>
            </a:r>
            <a:r>
              <a:rPr lang="en-US" sz="1200" dirty="0">
                <a:latin typeface="Times New Roman" panose="02020603050405020304" pitchFamily="18" charset="0"/>
                <a:cs typeface="Times New Roman" panose="02020603050405020304" pitchFamily="18" charset="0"/>
              </a:rPr>
              <a:t> Mak 23, 232 (2023). https://doi.org/10.1186/s12911-023-02326-w </a:t>
            </a:r>
            <a:endParaRPr lang="en-IN" sz="1200" dirty="0">
              <a:latin typeface="Times New Roman" panose="02020603050405020304" pitchFamily="18" charset="0"/>
              <a:cs typeface="Times New Roman" panose="02020603050405020304" pitchFamily="18" charset="0"/>
            </a:endParaRPr>
          </a:p>
          <a:p>
            <a:pPr marL="342900" marR="910590" lvl="0" indent="-342900">
              <a:lnSpc>
                <a:spcPct val="112000"/>
              </a:lnSpc>
              <a:spcBef>
                <a:spcPts val="895"/>
              </a:spcBef>
              <a:buSzPts val="1100"/>
              <a:buFont typeface="+mj-lt"/>
              <a:buAutoNum type="arabicPeriod"/>
              <a:tabLst>
                <a:tab pos="589280" algn="l"/>
              </a:tabLst>
            </a:pPr>
            <a:r>
              <a:rPr lang="en-US" sz="1200" dirty="0">
                <a:latin typeface="Times New Roman" panose="02020603050405020304" pitchFamily="18" charset="0"/>
                <a:cs typeface="Times New Roman" panose="02020603050405020304" pitchFamily="18" charset="0"/>
              </a:rPr>
              <a:t>Singh, A.K., Krishnan, S. ECG signal feature extraction trends in methods and applications. BioMed Eng </a:t>
            </a:r>
            <a:r>
              <a:rPr lang="en-US" sz="1200" dirty="0" err="1">
                <a:latin typeface="Times New Roman" panose="02020603050405020304" pitchFamily="18" charset="0"/>
                <a:cs typeface="Times New Roman" panose="02020603050405020304" pitchFamily="18" charset="0"/>
              </a:rPr>
              <a:t>OnLine</a:t>
            </a:r>
            <a:r>
              <a:rPr lang="en-US" sz="1200" dirty="0">
                <a:latin typeface="Times New Roman" panose="02020603050405020304" pitchFamily="18" charset="0"/>
                <a:cs typeface="Times New Roman" panose="02020603050405020304" pitchFamily="18" charset="0"/>
              </a:rPr>
              <a:t> 22, 22 (2023). https://doi.org/10.1186/s12938-023-01075-1 </a:t>
            </a:r>
            <a:endParaRPr lang="en-IN" sz="1200" dirty="0">
              <a:latin typeface="Times New Roman" panose="02020603050405020304" pitchFamily="18" charset="0"/>
              <a:cs typeface="Times New Roman" panose="02020603050405020304" pitchFamily="18" charset="0"/>
            </a:endParaRPr>
          </a:p>
          <a:p>
            <a:pPr marL="342900" marR="910590" lvl="0" indent="-342900">
              <a:lnSpc>
                <a:spcPct val="112000"/>
              </a:lnSpc>
              <a:spcBef>
                <a:spcPts val="895"/>
              </a:spcBef>
              <a:buSzPts val="1100"/>
              <a:buFont typeface="+mj-lt"/>
              <a:buAutoNum type="arabicPeriod"/>
              <a:tabLst>
                <a:tab pos="589280" algn="l"/>
              </a:tabLst>
            </a:pPr>
            <a:r>
              <a:rPr lang="en-US" sz="1200" dirty="0">
                <a:latin typeface="Times New Roman" panose="02020603050405020304" pitchFamily="18" charset="0"/>
                <a:cs typeface="Times New Roman" panose="02020603050405020304" pitchFamily="18" charset="0"/>
              </a:rPr>
              <a:t>Sun, A.; Hong, W.; Li, J.; Mao, J. An Arrhythmia Classification Model Based on a CNN-LSTM-SE Algorithm. Sensors 2024, 24, 6306. </a:t>
            </a:r>
            <a:r>
              <a:rPr lang="en-US" sz="1200" dirty="0">
                <a:latin typeface="Times New Roman" panose="02020603050405020304" pitchFamily="18" charset="0"/>
                <a:cs typeface="Times New Roman" panose="02020603050405020304" pitchFamily="18" charset="0"/>
                <a:hlinkClick r:id="rId2"/>
              </a:rPr>
              <a:t>https://doi.org/10.3390/s24196306</a:t>
            </a:r>
            <a:endParaRPr lang="en-IN" sz="1200" dirty="0">
              <a:latin typeface="Times New Roman" panose="02020603050405020304" pitchFamily="18" charset="0"/>
              <a:cs typeface="Times New Roman" panose="02020603050405020304" pitchFamily="18" charset="0"/>
            </a:endParaRPr>
          </a:p>
          <a:p>
            <a:pPr marL="342900" marR="910590" lvl="0" indent="-342900">
              <a:lnSpc>
                <a:spcPct val="112000"/>
              </a:lnSpc>
              <a:spcBef>
                <a:spcPts val="900"/>
              </a:spcBef>
              <a:buSzPts val="1100"/>
              <a:buFont typeface="+mj-lt"/>
              <a:buAutoNum type="arabicPeriod"/>
              <a:tabLst>
                <a:tab pos="589280" algn="l"/>
              </a:tabLst>
            </a:pPr>
            <a:r>
              <a:rPr lang="en-US" sz="1200" dirty="0">
                <a:latin typeface="Times New Roman" panose="02020603050405020304" pitchFamily="18" charset="0"/>
                <a:cs typeface="Times New Roman" panose="02020603050405020304" pitchFamily="18" charset="0"/>
              </a:rPr>
              <a:t>Bhatia, S.; Pandey, S.K.; Kumar, A.; </a:t>
            </a:r>
            <a:r>
              <a:rPr lang="en-US" sz="1200" dirty="0" err="1">
                <a:latin typeface="Times New Roman" panose="02020603050405020304" pitchFamily="18" charset="0"/>
                <a:cs typeface="Times New Roman" panose="02020603050405020304" pitchFamily="18" charset="0"/>
              </a:rPr>
              <a:t>Alshuhail</a:t>
            </a:r>
            <a:r>
              <a:rPr lang="en-US" sz="1200" dirty="0">
                <a:latin typeface="Times New Roman" panose="02020603050405020304" pitchFamily="18" charset="0"/>
                <a:cs typeface="Times New Roman" panose="02020603050405020304" pitchFamily="18" charset="0"/>
              </a:rPr>
              <a:t>, A. Classification of Electrocardiogram Signals Based on Hybrid Deep Learning Models. Sustainability 2022, 14, 16572. https://doi.org/10.3390/ su142416572</a:t>
            </a:r>
            <a:endParaRPr lang="en-IN" sz="1200" dirty="0">
              <a:latin typeface="Times New Roman" panose="02020603050405020304" pitchFamily="18" charset="0"/>
              <a:cs typeface="Times New Roman" panose="02020603050405020304" pitchFamily="18" charset="0"/>
            </a:endParaRPr>
          </a:p>
          <a:p>
            <a:pPr marL="342900" marR="911225" lvl="0" indent="-342900">
              <a:lnSpc>
                <a:spcPct val="112000"/>
              </a:lnSpc>
              <a:spcBef>
                <a:spcPts val="895"/>
              </a:spcBef>
              <a:buSzPts val="1100"/>
              <a:buFont typeface="+mj-lt"/>
              <a:buAutoNum type="arabicPeriod"/>
              <a:tabLst>
                <a:tab pos="589280" algn="l"/>
              </a:tabLst>
            </a:pPr>
            <a:r>
              <a:rPr lang="en-US" sz="1200" dirty="0">
                <a:latin typeface="Times New Roman" panose="02020603050405020304" pitchFamily="18" charset="0"/>
                <a:cs typeface="Times New Roman" panose="02020603050405020304" pitchFamily="18" charset="0"/>
              </a:rPr>
              <a:t>M. </a:t>
            </a:r>
            <a:r>
              <a:rPr lang="en-US" sz="1200" dirty="0" err="1">
                <a:latin typeface="Times New Roman" panose="02020603050405020304" pitchFamily="18" charset="0"/>
                <a:cs typeface="Times New Roman" panose="02020603050405020304" pitchFamily="18" charset="0"/>
              </a:rPr>
              <a:t>AlMahamdy</a:t>
            </a:r>
            <a:r>
              <a:rPr lang="en-US" sz="1200" dirty="0">
                <a:latin typeface="Times New Roman" panose="02020603050405020304" pitchFamily="18" charset="0"/>
                <a:cs typeface="Times New Roman" panose="02020603050405020304" pitchFamily="18" charset="0"/>
              </a:rPr>
              <a:t> and H. B. Riley, "Performance study of different denoising methods for ECG signals," in Proc. of the 4th International Conference on Current and Future Trends of Information and Communication Technologies in Healthcare (ICTH-2014), Athens, USA, 2014.</a:t>
            </a:r>
            <a:endParaRPr lang="en-IN" sz="1200" dirty="0">
              <a:latin typeface="Times New Roman" panose="02020603050405020304" pitchFamily="18" charset="0"/>
              <a:cs typeface="Times New Roman" panose="02020603050405020304" pitchFamily="18" charset="0"/>
            </a:endParaRPr>
          </a:p>
          <a:p>
            <a:pPr marL="342900" marR="911860" lvl="0" indent="-342900">
              <a:lnSpc>
                <a:spcPct val="112000"/>
              </a:lnSpc>
              <a:spcBef>
                <a:spcPts val="900"/>
              </a:spcBef>
              <a:buSzPts val="1100"/>
              <a:buFont typeface="+mj-lt"/>
              <a:buAutoNum type="arabicPeriod"/>
              <a:tabLst>
                <a:tab pos="589280" algn="l"/>
              </a:tabLst>
            </a:pPr>
            <a:r>
              <a:rPr lang="en-US" sz="1200" dirty="0">
                <a:latin typeface="Times New Roman" panose="02020603050405020304" pitchFamily="18" charset="0"/>
                <a:cs typeface="Times New Roman" panose="02020603050405020304" pitchFamily="18" charset="0"/>
              </a:rPr>
              <a:t>Din S, </a:t>
            </a:r>
            <a:r>
              <a:rPr lang="en-US" sz="1200" dirty="0" err="1">
                <a:latin typeface="Times New Roman" panose="02020603050405020304" pitchFamily="18" charset="0"/>
                <a:cs typeface="Times New Roman" panose="02020603050405020304" pitchFamily="18" charset="0"/>
              </a:rPr>
              <a:t>Qaraqe</a:t>
            </a:r>
            <a:r>
              <a:rPr lang="en-US" sz="1200" dirty="0">
                <a:latin typeface="Times New Roman" panose="02020603050405020304" pitchFamily="18" charset="0"/>
                <a:cs typeface="Times New Roman" panose="02020603050405020304" pitchFamily="18" charset="0"/>
              </a:rPr>
              <a:t> M, Mourad O, </a:t>
            </a:r>
            <a:r>
              <a:rPr lang="en-US" sz="1200" dirty="0" err="1">
                <a:latin typeface="Times New Roman" panose="02020603050405020304" pitchFamily="18" charset="0"/>
                <a:cs typeface="Times New Roman" panose="02020603050405020304" pitchFamily="18" charset="0"/>
              </a:rPr>
              <a:t>Qaraqe</a:t>
            </a:r>
            <a:r>
              <a:rPr lang="en-US" sz="1200" dirty="0">
                <a:latin typeface="Times New Roman" panose="02020603050405020304" pitchFamily="18" charset="0"/>
                <a:cs typeface="Times New Roman" panose="02020603050405020304" pitchFamily="18" charset="0"/>
              </a:rPr>
              <a:t> K, </a:t>
            </a:r>
            <a:r>
              <a:rPr lang="en-US" sz="1200" dirty="0" err="1">
                <a:latin typeface="Times New Roman" panose="02020603050405020304" pitchFamily="18" charset="0"/>
                <a:cs typeface="Times New Roman" panose="02020603050405020304" pitchFamily="18" charset="0"/>
              </a:rPr>
              <a:t>Serpedin</a:t>
            </a:r>
            <a:r>
              <a:rPr lang="en-US" sz="1200" dirty="0">
                <a:latin typeface="Times New Roman" panose="02020603050405020304" pitchFamily="18" charset="0"/>
                <a:cs typeface="Times New Roman" panose="02020603050405020304" pitchFamily="18" charset="0"/>
              </a:rPr>
              <a:t> E. ECG-based cardiac arrhythmias detection through ensemble learning and fusion of deep spatial-temporal and long-range dependency features. </a:t>
            </a:r>
            <a:r>
              <a:rPr lang="en-US" sz="1200" dirty="0" err="1">
                <a:latin typeface="Times New Roman" panose="02020603050405020304" pitchFamily="18" charset="0"/>
                <a:cs typeface="Times New Roman" panose="02020603050405020304" pitchFamily="18" charset="0"/>
              </a:rPr>
              <a:t>Artif</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Intell</a:t>
            </a:r>
            <a:r>
              <a:rPr lang="en-US" sz="1200" dirty="0">
                <a:latin typeface="Times New Roman" panose="02020603050405020304" pitchFamily="18" charset="0"/>
                <a:cs typeface="Times New Roman" panose="02020603050405020304" pitchFamily="18" charset="0"/>
              </a:rPr>
              <a:t> Med. 2024 Apr;150:102818. </a:t>
            </a:r>
            <a:r>
              <a:rPr lang="en-US" sz="1200" dirty="0" err="1">
                <a:latin typeface="Times New Roman" panose="02020603050405020304" pitchFamily="18" charset="0"/>
                <a:cs typeface="Times New Roman" panose="02020603050405020304" pitchFamily="18" charset="0"/>
              </a:rPr>
              <a:t>doi</a:t>
            </a:r>
            <a:r>
              <a:rPr lang="en-US" sz="1200" dirty="0">
                <a:latin typeface="Times New Roman" panose="02020603050405020304" pitchFamily="18" charset="0"/>
                <a:cs typeface="Times New Roman" panose="02020603050405020304" pitchFamily="18" charset="0"/>
              </a:rPr>
              <a:t>: 10.1016/j.artmed.2024.102818. </a:t>
            </a:r>
            <a:r>
              <a:rPr lang="en-US" sz="1200" dirty="0" err="1">
                <a:latin typeface="Times New Roman" panose="02020603050405020304" pitchFamily="18" charset="0"/>
                <a:cs typeface="Times New Roman" panose="02020603050405020304" pitchFamily="18" charset="0"/>
              </a:rPr>
              <a:t>Epub</a:t>
            </a:r>
            <a:r>
              <a:rPr lang="en-US" sz="1200" dirty="0">
                <a:latin typeface="Times New Roman" panose="02020603050405020304" pitchFamily="18" charset="0"/>
                <a:cs typeface="Times New Roman" panose="02020603050405020304" pitchFamily="18" charset="0"/>
              </a:rPr>
              <a:t> 2024 Feb 24. PMID: 38553158.</a:t>
            </a:r>
          </a:p>
          <a:p>
            <a:pPr marL="342900" marR="911860" lvl="0" indent="-342900">
              <a:lnSpc>
                <a:spcPct val="112000"/>
              </a:lnSpc>
              <a:spcBef>
                <a:spcPts val="900"/>
              </a:spcBef>
              <a:buSzPts val="1100"/>
              <a:buFont typeface="+mj-lt"/>
              <a:buAutoNum type="arabicPeriod"/>
              <a:tabLst>
                <a:tab pos="589280" algn="l"/>
              </a:tabLst>
            </a:pPr>
            <a:r>
              <a:rPr lang="en-US" sz="1200" dirty="0">
                <a:effectLst/>
                <a:latin typeface="Times New Roman" panose="02020603050405020304" pitchFamily="18" charset="0"/>
                <a:ea typeface="LM Roman 10"/>
                <a:cs typeface="Times New Roman" panose="02020603050405020304" pitchFamily="18" charset="0"/>
              </a:rPr>
              <a:t>H. A. Shah, F. Saeed, M. Diyan, N. A. </a:t>
            </a:r>
            <a:r>
              <a:rPr lang="en-US" sz="1200" dirty="0" err="1">
                <a:effectLst/>
                <a:latin typeface="Times New Roman" panose="02020603050405020304" pitchFamily="18" charset="0"/>
                <a:ea typeface="LM Roman 10"/>
                <a:cs typeface="Times New Roman" panose="02020603050405020304" pitchFamily="18" charset="0"/>
              </a:rPr>
              <a:t>Almujally</a:t>
            </a:r>
            <a:r>
              <a:rPr lang="en-US" sz="1200" dirty="0">
                <a:effectLst/>
                <a:latin typeface="Times New Roman" panose="02020603050405020304" pitchFamily="18" charset="0"/>
                <a:ea typeface="LM Roman 10"/>
                <a:cs typeface="Times New Roman" panose="02020603050405020304" pitchFamily="18" charset="0"/>
              </a:rPr>
              <a:t>, and J.-M. Kang, "ECG‐</a:t>
            </a:r>
            <a:r>
              <a:rPr lang="en-US" sz="1200" dirty="0" err="1">
                <a:effectLst/>
                <a:latin typeface="Times New Roman" panose="02020603050405020304" pitchFamily="18" charset="0"/>
                <a:ea typeface="LM Roman 10"/>
                <a:cs typeface="Times New Roman" panose="02020603050405020304" pitchFamily="18" charset="0"/>
              </a:rPr>
              <a:t>TransCovNet</a:t>
            </a:r>
            <a:r>
              <a:rPr lang="en-US" sz="1200" dirty="0">
                <a:effectLst/>
                <a:latin typeface="Times New Roman" panose="02020603050405020304" pitchFamily="18" charset="0"/>
                <a:ea typeface="LM Roman 10"/>
                <a:cs typeface="Times New Roman" panose="02020603050405020304" pitchFamily="18" charset="0"/>
              </a:rPr>
              <a:t>: A hybrid transformer model for accurate arrhythmia detection using Electrocardiogram signals," </a:t>
            </a:r>
            <a:r>
              <a:rPr lang="en-US" sz="1200" i="1" dirty="0">
                <a:effectLst/>
                <a:latin typeface="Times New Roman" panose="02020603050405020304" pitchFamily="18" charset="0"/>
                <a:ea typeface="LM Roman 10"/>
                <a:cs typeface="Times New Roman" panose="02020603050405020304" pitchFamily="18" charset="0"/>
              </a:rPr>
              <a:t>CAAI Transactions on Intelligence Technology</a:t>
            </a:r>
            <a:r>
              <a:rPr lang="en-US" sz="1200" dirty="0">
                <a:effectLst/>
                <a:latin typeface="Times New Roman" panose="02020603050405020304" pitchFamily="18" charset="0"/>
                <a:ea typeface="LM Roman 10"/>
                <a:cs typeface="Times New Roman" panose="02020603050405020304" pitchFamily="18" charset="0"/>
              </a:rPr>
              <a:t>, 2023. DOI: 10.1049/cit2.12293</a:t>
            </a:r>
          </a:p>
          <a:p>
            <a:pPr marL="342900" marR="911860" indent="-342900">
              <a:lnSpc>
                <a:spcPct val="112000"/>
              </a:lnSpc>
              <a:spcBef>
                <a:spcPts val="900"/>
              </a:spcBef>
              <a:buSzPts val="1100"/>
              <a:buFont typeface="+mj-lt"/>
              <a:buAutoNum type="arabicPeriod"/>
              <a:tabLst>
                <a:tab pos="589280" algn="l"/>
              </a:tabLst>
            </a:pPr>
            <a:r>
              <a:rPr lang="en-US" sz="1200" spc="0" dirty="0">
                <a:effectLst/>
                <a:latin typeface="Times New Roman" panose="02020603050405020304" pitchFamily="18" charset="0"/>
                <a:ea typeface="LM Roman 10"/>
                <a:cs typeface="Times New Roman" panose="02020603050405020304" pitchFamily="18" charset="0"/>
              </a:rPr>
              <a:t>Automatic detection for cardiac arrhythmia based on ECG and deep learning approaches. Li, Z. (Author). 1 Aug 2024</a:t>
            </a:r>
          </a:p>
          <a:p>
            <a:pPr marL="342900" marR="911860" indent="-342900">
              <a:lnSpc>
                <a:spcPct val="112000"/>
              </a:lnSpc>
              <a:spcBef>
                <a:spcPts val="900"/>
              </a:spcBef>
              <a:buSzPts val="1100"/>
              <a:buFont typeface="+mj-lt"/>
              <a:buAutoNum type="arabicPeriod"/>
              <a:tabLst>
                <a:tab pos="589280" algn="l"/>
              </a:tabLst>
            </a:pPr>
            <a:r>
              <a:rPr lang="en-US" sz="1200" spc="0" dirty="0">
                <a:effectLst/>
                <a:latin typeface="Times New Roman" panose="02020603050405020304" pitchFamily="18" charset="0"/>
                <a:ea typeface="LM Roman 10"/>
                <a:cs typeface="Times New Roman" panose="02020603050405020304" pitchFamily="18" charset="0"/>
              </a:rPr>
              <a:t>Karoui, Hend &amp; Hamza, </a:t>
            </a:r>
            <a:r>
              <a:rPr lang="en-US" sz="1200" spc="0" dirty="0" err="1">
                <a:effectLst/>
                <a:latin typeface="Times New Roman" panose="02020603050405020304" pitchFamily="18" charset="0"/>
                <a:ea typeface="LM Roman 10"/>
                <a:cs typeface="Times New Roman" panose="02020603050405020304" pitchFamily="18" charset="0"/>
              </a:rPr>
              <a:t>Sihem</a:t>
            </a:r>
            <a:r>
              <a:rPr lang="en-US" sz="1200" spc="0" dirty="0">
                <a:effectLst/>
                <a:latin typeface="Times New Roman" panose="02020603050405020304" pitchFamily="18" charset="0"/>
                <a:ea typeface="LM Roman 10"/>
                <a:cs typeface="Times New Roman" panose="02020603050405020304" pitchFamily="18" charset="0"/>
              </a:rPr>
              <a:t> &amp; </a:t>
            </a:r>
            <a:r>
              <a:rPr lang="en-US" sz="1200" spc="0" dirty="0" err="1">
                <a:effectLst/>
                <a:latin typeface="Times New Roman" panose="02020603050405020304" pitchFamily="18" charset="0"/>
                <a:ea typeface="LM Roman 10"/>
                <a:cs typeface="Times New Roman" panose="02020603050405020304" pitchFamily="18" charset="0"/>
              </a:rPr>
              <a:t>Benayed</a:t>
            </a:r>
            <a:r>
              <a:rPr lang="en-US" sz="1200" spc="0" dirty="0">
                <a:effectLst/>
                <a:latin typeface="Times New Roman" panose="02020603050405020304" pitchFamily="18" charset="0"/>
                <a:ea typeface="LM Roman 10"/>
                <a:cs typeface="Times New Roman" panose="02020603050405020304" pitchFamily="18" charset="0"/>
              </a:rPr>
              <a:t>, Yassine. (2024). Deep Learning for Cardiac Diseases Classification. 10.1007/978-3-031-70816-9_14.</a:t>
            </a:r>
            <a:endParaRPr lang="en-IN" sz="1200" dirty="0">
              <a:latin typeface="Times New Roman" panose="02020603050405020304" pitchFamily="18" charset="0"/>
              <a:ea typeface="LM Roman 10"/>
              <a:cs typeface="Times New Roman" panose="02020603050405020304" pitchFamily="18" charset="0"/>
            </a:endParaRPr>
          </a:p>
          <a:p>
            <a:pPr marL="342900" marR="911860" indent="-342900">
              <a:lnSpc>
                <a:spcPct val="112000"/>
              </a:lnSpc>
              <a:spcBef>
                <a:spcPts val="900"/>
              </a:spcBef>
              <a:buSzPts val="1100"/>
              <a:buFont typeface="+mj-lt"/>
              <a:buAutoNum type="arabicPeriod"/>
              <a:tabLst>
                <a:tab pos="589280" algn="l"/>
              </a:tabLst>
            </a:pPr>
            <a:r>
              <a:rPr lang="en-US" sz="1200" spc="0" dirty="0">
                <a:effectLst/>
                <a:latin typeface="Times New Roman" panose="02020603050405020304" pitchFamily="18" charset="0"/>
                <a:ea typeface="LM Roman 10"/>
                <a:cs typeface="Times New Roman" panose="02020603050405020304" pitchFamily="18" charset="0"/>
              </a:rPr>
              <a:t>S. Chatterjee, R. S. Thakur, R. N. Yadav, L. Gupta, and D. K. Raghuvanshi, "Review of noise removal techniques in ECG signals," </a:t>
            </a:r>
            <a:r>
              <a:rPr lang="en-US" sz="1200" i="1" spc="0" dirty="0">
                <a:effectLst/>
                <a:latin typeface="Times New Roman" panose="02020603050405020304" pitchFamily="18" charset="0"/>
                <a:ea typeface="LM Roman 10"/>
                <a:cs typeface="Times New Roman" panose="02020603050405020304" pitchFamily="18" charset="0"/>
              </a:rPr>
              <a:t>IET Signal Processing</a:t>
            </a:r>
            <a:r>
              <a:rPr lang="en-US" sz="1200" spc="0" dirty="0">
                <a:effectLst/>
                <a:latin typeface="Times New Roman" panose="02020603050405020304" pitchFamily="18" charset="0"/>
                <a:ea typeface="LM Roman 10"/>
                <a:cs typeface="Times New Roman" panose="02020603050405020304" pitchFamily="18" charset="0"/>
              </a:rPr>
              <a:t>, E-first, Sept. 15, 2020. DOI: 10.1049/iet-spr.2020.0104.</a:t>
            </a:r>
            <a:endParaRPr lang="en-IN" sz="1200" spc="0" dirty="0">
              <a:effectLst/>
              <a:latin typeface="LM Roman 10"/>
              <a:ea typeface="LM Roman 10"/>
              <a:cs typeface="Times New Roman" panose="02020603050405020304" pitchFamily="18" charset="0"/>
            </a:endParaRPr>
          </a:p>
          <a:p>
            <a:pPr marL="342900" marR="911860" indent="-342900">
              <a:lnSpc>
                <a:spcPct val="112000"/>
              </a:lnSpc>
              <a:spcBef>
                <a:spcPts val="900"/>
              </a:spcBef>
              <a:buSzPts val="1100"/>
              <a:buFont typeface="+mj-lt"/>
              <a:buAutoNum type="arabicPeriod"/>
              <a:tabLst>
                <a:tab pos="589280" algn="l"/>
              </a:tabLst>
            </a:pPr>
            <a:endParaRPr lang="en-IN" sz="1200" spc="0" dirty="0">
              <a:effectLst/>
              <a:latin typeface="Times New Roman" panose="02020603050405020304" pitchFamily="18" charset="0"/>
              <a:ea typeface="LM Roman 10"/>
              <a:cs typeface="Times New Roman" panose="02020603050405020304" pitchFamily="18" charset="0"/>
            </a:endParaRPr>
          </a:p>
        </p:txBody>
      </p:sp>
    </p:spTree>
    <p:extLst>
      <p:ext uri="{BB962C8B-B14F-4D97-AF65-F5344CB8AC3E}">
        <p14:creationId xmlns:p14="http://schemas.microsoft.com/office/powerpoint/2010/main" val="1513530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291A81-576E-1F0B-10B5-13B506AD82E2}"/>
              </a:ext>
            </a:extLst>
          </p:cNvPr>
          <p:cNvSpPr txBox="1"/>
          <p:nvPr/>
        </p:nvSpPr>
        <p:spPr>
          <a:xfrm>
            <a:off x="4546113" y="2853837"/>
            <a:ext cx="310466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200" dirty="0">
                <a:solidFill>
                  <a:srgbClr val="7030A0"/>
                </a:solidFill>
                <a:latin typeface="Garamond"/>
                <a:cs typeface="Calibri"/>
              </a:rPr>
              <a:t>Thank You</a:t>
            </a:r>
            <a:endParaRPr lang="en-US" sz="5200" dirty="0">
              <a:solidFill>
                <a:srgbClr val="7030A0"/>
              </a:solidFill>
              <a:latin typeface="Garamond"/>
            </a:endParaRPr>
          </a:p>
        </p:txBody>
      </p:sp>
    </p:spTree>
    <p:extLst>
      <p:ext uri="{BB962C8B-B14F-4D97-AF65-F5344CB8AC3E}">
        <p14:creationId xmlns:p14="http://schemas.microsoft.com/office/powerpoint/2010/main" val="60636410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729</TotalTime>
  <Words>2857</Words>
  <Application>Microsoft Office PowerPoint</Application>
  <PresentationFormat>Widescreen</PresentationFormat>
  <Paragraphs>229</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Calibri Light</vt:lpstr>
      <vt:lpstr>Garamond</vt:lpstr>
      <vt:lpstr>LM Roman 10</vt:lpstr>
      <vt:lpstr>Roboto</vt:lpstr>
      <vt:lpstr>Times New Roman</vt:lpstr>
      <vt:lpstr>Retrospect</vt:lpstr>
      <vt:lpstr>                               ECG Signal Processing for Arrhythmia Detection  Team Members: 1) 21BLC1058 – V M Adhityaa 2) 21BLC1472 – S Vinodh 3) 21BLC1569 – A Navaneth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Results</vt:lpstr>
      <vt:lpstr>Plots</vt:lpstr>
      <vt:lpstr>Plots</vt:lpstr>
      <vt:lpstr>Plots</vt:lpstr>
      <vt:lpstr>Plots</vt:lpstr>
      <vt:lpstr>Plots</vt:lpstr>
      <vt:lpstr>Plots</vt:lpstr>
      <vt:lpstr>Confusion Matrix</vt:lpstr>
      <vt:lpstr>Interpretation and Findings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BCSE351E Foundations of Data Analytics  Digital Assignment – 1</dc:title>
  <dc:creator>vinodh Prakash</dc:creator>
  <cp:lastModifiedBy>Vinodh S</cp:lastModifiedBy>
  <cp:revision>1619</cp:revision>
  <dcterms:created xsi:type="dcterms:W3CDTF">2023-05-22T10:44:30Z</dcterms:created>
  <dcterms:modified xsi:type="dcterms:W3CDTF">2024-11-20T03:08:41Z</dcterms:modified>
</cp:coreProperties>
</file>